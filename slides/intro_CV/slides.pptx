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png" ContentType="image/pn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71320" y="602280"/>
            <a:ext cx="75200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Master AAI Expert Workshops — Session 1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71320" y="1269360"/>
            <a:ext cx="5298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Michiel Bontenbal, MSc · Rick van Kersbergen, MSc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571320" y="1783440"/>
            <a:ext cx="70308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Introduction Tech Workshop Curriculum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580680" y="1238040"/>
            <a:ext cx="695880" cy="457560"/>
          </a:xfrm>
          <a:custGeom>
            <a:avLst/>
            <a:gdLst/>
            <a:ahLst/>
            <a:rect l="0" t="0" r="r" b="b"/>
            <a:pathLst>
              <a:path w="1933" h="1271">
                <a:moveTo>
                  <a:pt x="0" y="0"/>
                </a:moveTo>
                <a:lnTo>
                  <a:pt x="1933" y="0"/>
                </a:lnTo>
                <a:lnTo>
                  <a:pt x="1933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276200" y="1238040"/>
            <a:ext cx="1200600" cy="457560"/>
          </a:xfrm>
          <a:custGeom>
            <a:avLst/>
            <a:gdLst/>
            <a:ahLst/>
            <a:rect l="0" t="0" r="r" b="b"/>
            <a:pathLst>
              <a:path w="3335" h="1271">
                <a:moveTo>
                  <a:pt x="0" y="0"/>
                </a:moveTo>
                <a:lnTo>
                  <a:pt x="3335" y="0"/>
                </a:lnTo>
                <a:lnTo>
                  <a:pt x="3335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476440" y="1238040"/>
            <a:ext cx="1762200" cy="457560"/>
          </a:xfrm>
          <a:custGeom>
            <a:avLst/>
            <a:gdLst/>
            <a:ahLst/>
            <a:rect l="0" t="0" r="r" b="b"/>
            <a:pathLst>
              <a:path w="4895" h="1271">
                <a:moveTo>
                  <a:pt x="0" y="0"/>
                </a:moveTo>
                <a:lnTo>
                  <a:pt x="4895" y="0"/>
                </a:lnTo>
                <a:lnTo>
                  <a:pt x="4895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4238280" y="1238040"/>
            <a:ext cx="7382520" cy="457560"/>
          </a:xfrm>
          <a:custGeom>
            <a:avLst/>
            <a:gdLst/>
            <a:ahLst/>
            <a:rect l="0" t="0" r="r" b="b"/>
            <a:pathLst>
              <a:path w="20507" h="1271">
                <a:moveTo>
                  <a:pt x="0" y="0"/>
                </a:moveTo>
                <a:lnTo>
                  <a:pt x="20507" y="0"/>
                </a:lnTo>
                <a:lnTo>
                  <a:pt x="2050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571320" y="1228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571320" y="12286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276200" y="1228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285560" y="12286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476440" y="1228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485800" y="12286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4228920" y="1228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238280" y="12286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1610720" y="1228680"/>
            <a:ext cx="10440" cy="466920"/>
          </a:xfrm>
          <a:custGeom>
            <a:avLst/>
            <a:gdLst/>
            <a:ahLst/>
            <a:rect l="0" t="0" r="r" b="b"/>
            <a:pathLst>
              <a:path w="29" h="1297">
                <a:moveTo>
                  <a:pt x="0" y="0"/>
                </a:moveTo>
                <a:lnTo>
                  <a:pt x="29" y="0"/>
                </a:lnTo>
                <a:lnTo>
                  <a:pt x="29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571320" y="16858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285560" y="16858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485800" y="16858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4238280" y="16858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571320" y="1695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276200" y="1695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476440" y="1695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228920" y="1695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1610720" y="16952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71320" y="2152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571320" y="21430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276200" y="2152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285560" y="21430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476440" y="2152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485800" y="21430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4228920" y="2152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238280" y="21430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1610720" y="21524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71320" y="26096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571320" y="26002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276200" y="26096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285560" y="26002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476440" y="26096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485800" y="26002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4228920" y="26096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238280" y="26002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1610720" y="26096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71320" y="30668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71320" y="30574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276200" y="30668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285560" y="30574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2476440" y="30668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2485800" y="30574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4228920" y="30668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238280" y="30574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1610720" y="30668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71320" y="35240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571320" y="35146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276200" y="35240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285560" y="35146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476440" y="35240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485800" y="35146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228920" y="35240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4238280" y="35146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1610720" y="35240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571320" y="3981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571320" y="39718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276200" y="3981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285560" y="39718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476440" y="3981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485800" y="39718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228920" y="3981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4238280" y="39718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1610720" y="39812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71320" y="44384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71320" y="44290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276200" y="44384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285560" y="44290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476440" y="44384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2485800" y="4429080"/>
            <a:ext cx="1752840" cy="9720"/>
          </a:xfrm>
          <a:custGeom>
            <a:avLst/>
            <a:gdLst/>
            <a:ahLst/>
            <a:rect l="0" t="0" r="r" b="b"/>
            <a:pathLst>
              <a:path w="4869" h="27">
                <a:moveTo>
                  <a:pt x="0" y="0"/>
                </a:moveTo>
                <a:lnTo>
                  <a:pt x="4869" y="0"/>
                </a:lnTo>
                <a:lnTo>
                  <a:pt x="48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228920" y="44384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238280" y="4429080"/>
            <a:ext cx="7382520" cy="9720"/>
          </a:xfrm>
          <a:custGeom>
            <a:avLst/>
            <a:gdLst/>
            <a:ahLst/>
            <a:rect l="0" t="0" r="r" b="b"/>
            <a:pathLst>
              <a:path w="20507" h="27">
                <a:moveTo>
                  <a:pt x="0" y="0"/>
                </a:moveTo>
                <a:lnTo>
                  <a:pt x="20507" y="0"/>
                </a:lnTo>
                <a:lnTo>
                  <a:pt x="205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1610720" y="4438440"/>
            <a:ext cx="10440" cy="448200"/>
          </a:xfrm>
          <a:custGeom>
            <a:avLst/>
            <a:gdLst/>
            <a:ahLst/>
            <a:rect l="0" t="0" r="r" b="b"/>
            <a:pathLst>
              <a:path w="29" h="1245">
                <a:moveTo>
                  <a:pt x="0" y="0"/>
                </a:moveTo>
                <a:lnTo>
                  <a:pt x="29" y="0"/>
                </a:lnTo>
                <a:lnTo>
                  <a:pt x="29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71320" y="4876560"/>
            <a:ext cx="714600" cy="10080"/>
          </a:xfrm>
          <a:custGeom>
            <a:avLst/>
            <a:gdLst/>
            <a:ah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285560" y="487656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485800" y="4876560"/>
            <a:ext cx="1752840" cy="10080"/>
          </a:xfrm>
          <a:custGeom>
            <a:avLst/>
            <a:gdLst/>
            <a:ahLst/>
            <a:rect l="0" t="0" r="r" b="b"/>
            <a:pathLst>
              <a:path w="4869" h="28">
                <a:moveTo>
                  <a:pt x="0" y="0"/>
                </a:moveTo>
                <a:lnTo>
                  <a:pt x="4869" y="0"/>
                </a:lnTo>
                <a:lnTo>
                  <a:pt x="48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238280" y="4876560"/>
            <a:ext cx="7382520" cy="10080"/>
          </a:xfrm>
          <a:custGeom>
            <a:avLst/>
            <a:gdLst/>
            <a:ahLst/>
            <a:rect l="0" t="0" r="r" b="b"/>
            <a:pathLst>
              <a:path w="20507" h="28">
                <a:moveTo>
                  <a:pt x="0" y="0"/>
                </a:moveTo>
                <a:lnTo>
                  <a:pt x="20507" y="0"/>
                </a:lnTo>
                <a:lnTo>
                  <a:pt x="205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71320" y="602280"/>
            <a:ext cx="3679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Curriculum Overview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16760" y="1348200"/>
            <a:ext cx="314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No.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419480" y="1348200"/>
            <a:ext cx="4230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Date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620080" y="1348200"/>
            <a:ext cx="7808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Lecturer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375080" y="1348200"/>
            <a:ext cx="8128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Subjects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16760" y="18054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1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419480" y="1805400"/>
            <a:ext cx="736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Sep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620080" y="1805400"/>
            <a:ext cx="12092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Rick + Michiel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75080" y="1805400"/>
            <a:ext cx="37512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AI assisted coding, Data exploration, Faces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16760" y="22626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2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419480" y="2262600"/>
            <a:ext cx="736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Sep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620080" y="2262600"/>
            <a:ext cx="607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Michiel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375080" y="2262600"/>
            <a:ext cx="34801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Object Detection, Video, CNN advanced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16760" y="27198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419480" y="2719800"/>
            <a:ext cx="736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Sep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620080" y="2719800"/>
            <a:ext cx="3787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Rick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375080" y="2719800"/>
            <a:ext cx="22014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Evaluations, Build an app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16760" y="31770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4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419480" y="3177000"/>
            <a:ext cx="736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Sep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620080" y="3177000"/>
            <a:ext cx="607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Michiel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75080" y="3177000"/>
            <a:ext cx="46731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Embeddings (SSL, CLIP, Search) &amp; prep tech reviews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16760" y="36342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5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419480" y="3634200"/>
            <a:ext cx="694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Oct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620080" y="3634200"/>
            <a:ext cx="12092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Rick + Michiel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375080" y="3634200"/>
            <a:ext cx="11498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Tech reviews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16760" y="40914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6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419480" y="4091400"/>
            <a:ext cx="694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Oct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620080" y="4091400"/>
            <a:ext cx="3787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Rick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375080" y="4091400"/>
            <a:ext cx="38548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ML Ops + topics based on student questions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16760" y="45486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7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419480" y="4548600"/>
            <a:ext cx="694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Thu Oct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620080" y="4548600"/>
            <a:ext cx="607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Michiel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375080" y="4548600"/>
            <a:ext cx="59914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Vision Language Models (VLMs) + topics based on student questions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2/25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8534160" cy="4762080"/>
          </a:xfrm>
          <a:prstGeom prst="rect">
            <a:avLst/>
          </a:prstGeom>
          <a:ln w="0">
            <a:noFill/>
          </a:ln>
        </p:spPr>
      </p:pic>
      <p:sp>
        <p:nvSpPr>
          <p:cNvPr id="134" name=""/>
          <p:cNvSpPr txBox="1"/>
          <p:nvPr/>
        </p:nvSpPr>
        <p:spPr>
          <a:xfrm>
            <a:off x="571320" y="602280"/>
            <a:ext cx="33123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Vragenbox op DLO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3/25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71320" y="602280"/>
            <a:ext cx="32940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Techreview week 5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71320" y="1269360"/>
            <a:ext cx="9911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Assessment on the technical aspect of your project up till that point. Outcomes A2, B1, B2, B3, C2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95160" y="24285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3" y="47"/>
                  <a:pt x="19" y="37"/>
                  <a:pt x="28" y="28"/>
                </a:cubicBezTo>
                <a:cubicBezTo>
                  <a:pt x="37" y="20"/>
                  <a:pt x="47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71320" y="1793520"/>
            <a:ext cx="2273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You hand in on DLO: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95160" y="2847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6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91360" y="2317320"/>
            <a:ext cx="5349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Relevant part of your project report (see study guide)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91360" y="2736360"/>
            <a:ext cx="5159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Link to your up-to-date Git repo (make it navigable)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4/25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71320" y="602280"/>
            <a:ext cx="40042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Usage of Generative AI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571320" y="1269360"/>
            <a:ext cx="11054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AI Assessment Scale Level 3: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AI mag gebruikt worden ter ondersteuning bij specifieke taken. Je wordt altijd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71320" y="1612440"/>
            <a:ext cx="11042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verplicht om AI-gegenereerde content kritisch te evalueren en indien nodig aan te passen (Zie Techworkshop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71320" y="1955160"/>
            <a:ext cx="610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DLO).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71320" y="2479320"/>
            <a:ext cx="11055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Verantwoording van keuzes in eigen woorden om begrip aan te kunnen tonen — Gen AI niet toegestaan voor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71320" y="2822040"/>
            <a:ext cx="3862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schrijven uiteindelijke uitleg in rapport.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5/25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800160" y="3012120"/>
            <a:ext cx="4610880" cy="562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959" spc="-1" strike="noStrike">
                <a:solidFill>
                  <a:srgbClr val="ffffff"/>
                </a:solidFill>
                <a:latin typeface="Arial"/>
                <a:ea typeface="Arial"/>
              </a:rPr>
              <a:t>AI Assisted Coding</a:t>
            </a:r>
            <a:endParaRPr b="0" lang="en-US" sz="395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6/25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8810280" cy="4762080"/>
          </a:xfrm>
          <a:prstGeom prst="rect">
            <a:avLst/>
          </a:prstGeom>
          <a:ln w="0">
            <a:noFill/>
          </a:ln>
        </p:spPr>
      </p:pic>
      <p:sp>
        <p:nvSpPr>
          <p:cNvPr id="170" name=""/>
          <p:cNvSpPr txBox="1"/>
          <p:nvPr/>
        </p:nvSpPr>
        <p:spPr>
          <a:xfrm>
            <a:off x="571320" y="602280"/>
            <a:ext cx="53848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AI Assisted Coding in VS Code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71320" y="6212880"/>
            <a:ext cx="2160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Try a different model!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7/25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1828440" cy="1828440"/>
          </a:xfrm>
          <a:prstGeom prst="rect">
            <a:avLst/>
          </a:prstGeom>
          <a:ln w="0">
            <a:noFill/>
          </a:ln>
        </p:spPr>
      </p:pic>
      <p:sp>
        <p:nvSpPr>
          <p:cNvPr id="178" name=""/>
          <p:cNvSpPr txBox="1"/>
          <p:nvPr/>
        </p:nvSpPr>
        <p:spPr>
          <a:xfrm>
            <a:off x="571320" y="602280"/>
            <a:ext cx="74988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Do you get the right response? ‘Alignment’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71320" y="3279240"/>
            <a:ext cx="6441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Intro to Alignment: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aligned.substack.com — blog by Jan Leike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8/25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71320" y="602280"/>
            <a:ext cx="44294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Tips for Better Prompting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95160" y="1904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8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71320" y="1269360"/>
            <a:ext cx="2311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Write a better prompt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9516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891360" y="1793520"/>
            <a:ext cx="2477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Think before you prompt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95160" y="2733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91360" y="2202840"/>
            <a:ext cx="2108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Try different prompts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91360" y="2621880"/>
            <a:ext cx="4129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For beginners: add “write simple code…”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448320" y="1904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8" y="150"/>
                  <a:pt x="12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324480" y="1269360"/>
            <a:ext cx="2756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Understand the response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44832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644520" y="1793520"/>
            <a:ext cx="2184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Be aware of mistakes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448320" y="2733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644520" y="2202840"/>
            <a:ext cx="2960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Ask “Explain this code to me”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644520" y="2621880"/>
            <a:ext cx="4702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Decide if you want to use the code or try again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1722320" y="6593400"/>
            <a:ext cx="2401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9/25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3171600" cy="4762080"/>
          </a:xfrm>
          <a:prstGeom prst="rect">
            <a:avLst/>
          </a:prstGeom>
          <a:ln w="0">
            <a:noFill/>
          </a:ln>
        </p:spPr>
      </p:pic>
      <p:sp>
        <p:nvSpPr>
          <p:cNvPr id="206" name=""/>
          <p:cNvSpPr txBox="1"/>
          <p:nvPr/>
        </p:nvSpPr>
        <p:spPr>
          <a:xfrm>
            <a:off x="571320" y="602280"/>
            <a:ext cx="50817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Human–AI Pair Programming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71320" y="6212880"/>
            <a:ext cx="5095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Work together with the AI — your new best buddy!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10/25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71320" y="40680"/>
            <a:ext cx="6467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The AI can make mistakes, you have to guide it. Do not give up.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71320" y="602280"/>
            <a:ext cx="44308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Active Learning is Better!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95160" y="1904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8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71320" y="1269360"/>
            <a:ext cx="5603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Writing code is more effective than reading code. Why?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9516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91360" y="1793520"/>
            <a:ext cx="2337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You remember it better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95160" y="2733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91360" y="2202840"/>
            <a:ext cx="2096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You are more critical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891360" y="2621880"/>
            <a:ext cx="2338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You are more engaged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1662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11/25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4762080" cy="4762080"/>
          </a:xfrm>
          <a:prstGeom prst="rect">
            <a:avLst/>
          </a:prstGeom>
          <a:ln w="0">
            <a:noFill/>
          </a:ln>
        </p:spPr>
      </p:pic>
      <p:sp>
        <p:nvSpPr>
          <p:cNvPr id="228" name=""/>
          <p:cNvSpPr txBox="1"/>
          <p:nvPr/>
        </p:nvSpPr>
        <p:spPr>
          <a:xfrm>
            <a:off x="571320" y="602280"/>
            <a:ext cx="77014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First Learn to Walk Before You Learn to Run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12/25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71320" y="602280"/>
            <a:ext cx="30488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To Do / Exercises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95160" y="1904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8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71320" y="1269360"/>
            <a:ext cx="1117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Beginners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9516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891360" y="1793520"/>
            <a:ext cx="2655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Set up Copilot in VS Code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91360" y="2202840"/>
            <a:ext cx="4307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Write code to calculate Fibonacci numbers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448320" y="1904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8" y="150"/>
                  <a:pt x="12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324480" y="1269360"/>
            <a:ext cx="1360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Experienced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44832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6644520" y="1793520"/>
            <a:ext cx="3100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Compare: Claude.ai vs Copilot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448320" y="2733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644520" y="2202840"/>
            <a:ext cx="4168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Try uploading an image to generate code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644520" y="2621880"/>
            <a:ext cx="4319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Create a front-end app with HTML/JS/CSS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644520" y="2964960"/>
            <a:ext cx="1410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(multiple files)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13/25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760040" y="3012120"/>
            <a:ext cx="8690400" cy="562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959" spc="-1" strike="noStrike">
                <a:solidFill>
                  <a:srgbClr val="ffffff"/>
                </a:solidFill>
                <a:latin typeface="Arial"/>
                <a:ea typeface="Arial"/>
              </a:rPr>
              <a:t>Data Exploration and Initial Analysis</a:t>
            </a:r>
            <a:endParaRPr b="0" lang="en-US" sz="395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14/25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7829280" cy="3828600"/>
          </a:xfrm>
          <a:prstGeom prst="rect">
            <a:avLst/>
          </a:prstGeom>
          <a:ln w="0">
            <a:noFill/>
          </a:ln>
        </p:spPr>
      </p:pic>
      <p:sp>
        <p:nvSpPr>
          <p:cNvPr id="260" name=""/>
          <p:cNvSpPr txBox="1"/>
          <p:nvPr/>
        </p:nvSpPr>
        <p:spPr>
          <a:xfrm>
            <a:off x="571320" y="602280"/>
            <a:ext cx="68068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The Life-Cycle of MLOps: CRISP-ML(Q)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15/25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95160" y="138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71320" y="602280"/>
            <a:ext cx="34146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Choosing a Dataset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009440" y="17236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70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70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0f346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91360" y="1269360"/>
            <a:ext cx="5284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Always first concern yourself with </a:t>
            </a:r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Data Provenance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95160" y="22478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211400" y="1612440"/>
            <a:ext cx="6073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Source, collection process — might any of these be biased?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009440" y="2590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70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0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70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0f346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891360" y="2136240"/>
            <a:ext cx="3061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Then check </a:t>
            </a:r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Data Description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95160" y="31143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211400" y="2479320"/>
            <a:ext cx="2769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Size, contents, label quality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009440" y="3457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70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8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70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0f346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891360" y="3003120"/>
            <a:ext cx="2132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Where to find data?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211400" y="3345840"/>
            <a:ext cx="4041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Similar research, Kaggle, Hugging Face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16/25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95160" y="138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71320" y="602280"/>
            <a:ext cx="61776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Initial Exploration and Visualisation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95160" y="1790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91360" y="1269360"/>
            <a:ext cx="6112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Visualisation is an integral part of the data exploration phase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95160" y="21999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891360" y="1679040"/>
            <a:ext cx="8881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First look at different distributions: feature distributions, bivariate/multivariate exploration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91360" y="2088720"/>
            <a:ext cx="4357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Use histograms, boxplots, scatterplots, etc.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95160" y="3257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571320" y="2621880"/>
            <a:ext cx="3124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Also check technical details: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695160" y="3666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91360" y="3146040"/>
            <a:ext cx="1448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Target leaking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95160" y="4076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891360" y="3555360"/>
            <a:ext cx="4752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Image quality (resolution, brightness, cropping)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891360" y="3965040"/>
            <a:ext cx="4498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Label noise (incorrect ages, approximations)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71320" y="4488840"/>
            <a:ext cx="4688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Ask yourself: what makes this data predictive?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17/25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95160" y="138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71320" y="602280"/>
            <a:ext cx="51822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Data Bias When Using People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95160" y="1790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891360" y="1269360"/>
            <a:ext cx="4485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Algorithms do not care about your data at all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695160" y="21999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891360" y="1679040"/>
            <a:ext cx="4764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They just want to “win” by solving your problem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95160" y="2619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891360" y="2088720"/>
            <a:ext cx="4808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Winning = minimising your chosen loss function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95160" y="3028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3" y="47"/>
                  <a:pt x="19" y="37"/>
                  <a:pt x="28" y="28"/>
                </a:cubicBezTo>
                <a:cubicBezTo>
                  <a:pt x="37" y="20"/>
                  <a:pt x="47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891360" y="2507760"/>
            <a:ext cx="5019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By finding any pattern that might contribute to this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891360" y="2917440"/>
            <a:ext cx="5627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Representation is therefore unimaginably important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18/25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71320" y="602280"/>
            <a:ext cx="35362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Feature Engineering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695160" y="1904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50"/>
                  <a:pt x="159" y="158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8"/>
                </a:cubicBezTo>
                <a:cubicBezTo>
                  <a:pt x="19" y="150"/>
                  <a:pt x="13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71320" y="1269360"/>
            <a:ext cx="5817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When you know your data, you can start engineering: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9516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91360" y="1793520"/>
            <a:ext cx="2681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Face alignment / Cropping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695160" y="2733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891360" y="2202840"/>
            <a:ext cx="1206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Grayscaling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95160" y="3143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891360" y="2621880"/>
            <a:ext cx="3697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Over- and Undersampling of classes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95160" y="35524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7" y="168"/>
                  <a:pt x="28" y="160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3" y="47"/>
                  <a:pt x="19" y="37"/>
                  <a:pt x="28" y="28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7"/>
                  <a:pt x="174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891360" y="3031560"/>
            <a:ext cx="2541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Normalisation of the data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891360" y="3441240"/>
            <a:ext cx="3684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Regression vs Classification framing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71320" y="3965040"/>
            <a:ext cx="5755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Don’t just ask yourself what — but more importantly why.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19/25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695160" y="138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571320" y="602280"/>
            <a:ext cx="43898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Other Important Subjects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95160" y="1790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891360" y="1269360"/>
            <a:ext cx="3621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Data leakage / test data invalidation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95160" y="21999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891360" y="1679040"/>
            <a:ext cx="4853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Data splitting strategies (random, stratified, etc.)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95160" y="2619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91360" y="2088720"/>
            <a:ext cx="7215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Think already about evaluation metrics (MAE, RMSE, Fairness metrics)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695160" y="3028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3" y="47"/>
                  <a:pt x="19" y="37"/>
                  <a:pt x="28" y="28"/>
                </a:cubicBezTo>
                <a:cubicBezTo>
                  <a:pt x="37" y="20"/>
                  <a:pt x="47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891360" y="2507760"/>
            <a:ext cx="3214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Reproducibility of your workflow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891360" y="2917440"/>
            <a:ext cx="4714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The iterative nature of it (learning outcome B4)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20/25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71320" y="602280"/>
            <a:ext cx="32421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Practicum ~45 min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71320" y="1269360"/>
            <a:ext cx="10417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Make groups of four students. Perform data analysis on the </a:t>
            </a:r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UTKFace dataset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(see notebook on DLO).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95160" y="24285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3" y="47"/>
                  <a:pt x="19" y="37"/>
                  <a:pt x="28" y="28"/>
                </a:cubicBezTo>
                <a:cubicBezTo>
                  <a:pt x="37" y="20"/>
                  <a:pt x="47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71320" y="1793520"/>
            <a:ext cx="232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Questions to answer: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95160" y="2847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8"/>
                </a:cubicBezTo>
                <a:cubicBezTo>
                  <a:pt x="2" y="116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891360" y="2317320"/>
            <a:ext cx="7585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Distribution: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What distributions should be checked? Balanced or skewed?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695160" y="3257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9" y="151"/>
                  <a:pt x="13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891360" y="2736360"/>
            <a:ext cx="6631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Quality: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Any errors, anomalies, missing data, unrealistic images?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95160" y="3666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4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891360" y="3146040"/>
            <a:ext cx="6567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Bias: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What kind of biases are present? How would you fix them?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91360" y="3555360"/>
            <a:ext cx="5106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Image inspection: </a:t>
            </a:r>
            <a:r>
              <a:rPr b="0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Lighting, angles, cropping, etc.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571320" y="4079520"/>
            <a:ext cx="7116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800" spc="-1" strike="noStrike">
                <a:solidFill>
                  <a:srgbClr val="1a1a2e"/>
                </a:solidFill>
                <a:latin typeface="Arial"/>
                <a:ea typeface="Arial"/>
              </a:rPr>
              <a:t>In the end we recap: surprises? concerns? take-aways for the project?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21/25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383080" y="3012120"/>
            <a:ext cx="1425600" cy="562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959" spc="-1" strike="noStrike">
                <a:solidFill>
                  <a:srgbClr val="ffffff"/>
                </a:solidFill>
                <a:latin typeface="Arial"/>
                <a:ea typeface="Arial"/>
              </a:rPr>
              <a:t>Faces</a:t>
            </a:r>
            <a:endParaRPr b="0" lang="en-US" sz="395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22/25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1"/>
          <a:stretch/>
        </p:blipFill>
        <p:spPr>
          <a:xfrm>
            <a:off x="571320" y="1228680"/>
            <a:ext cx="8429400" cy="4762080"/>
          </a:xfrm>
          <a:prstGeom prst="rect">
            <a:avLst/>
          </a:prstGeom>
          <a:ln w="0">
            <a:noFill/>
          </a:ln>
        </p:spPr>
      </p:pic>
      <p:sp>
        <p:nvSpPr>
          <p:cNvPr id="378" name=""/>
          <p:cNvSpPr txBox="1"/>
          <p:nvPr/>
        </p:nvSpPr>
        <p:spPr>
          <a:xfrm>
            <a:off x="571320" y="602280"/>
            <a:ext cx="361872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Faces — Time Lapse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23/25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580680" y="1238040"/>
            <a:ext cx="734040" cy="457560"/>
          </a:xfrm>
          <a:custGeom>
            <a:avLst/>
            <a:gdLst/>
            <a:ahLst/>
            <a:rect l="0" t="0" r="r" b="b"/>
            <a:pathLst>
              <a:path w="2039" h="1271">
                <a:moveTo>
                  <a:pt x="0" y="0"/>
                </a:moveTo>
                <a:lnTo>
                  <a:pt x="2039" y="0"/>
                </a:lnTo>
                <a:lnTo>
                  <a:pt x="203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314360" y="1238040"/>
            <a:ext cx="2257560" cy="457560"/>
          </a:xfrm>
          <a:custGeom>
            <a:avLst/>
            <a:gdLst/>
            <a:ahLst/>
            <a:rect l="0" t="0" r="r" b="b"/>
            <a:pathLst>
              <a:path w="6271" h="1271">
                <a:moveTo>
                  <a:pt x="0" y="0"/>
                </a:moveTo>
                <a:lnTo>
                  <a:pt x="6271" y="0"/>
                </a:lnTo>
                <a:lnTo>
                  <a:pt x="6271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3571560" y="1238040"/>
            <a:ext cx="3905640" cy="457560"/>
          </a:xfrm>
          <a:custGeom>
            <a:avLst/>
            <a:gdLst/>
            <a:ahLst/>
            <a:rect l="0" t="0" r="r" b="b"/>
            <a:pathLst>
              <a:path w="10849" h="1271">
                <a:moveTo>
                  <a:pt x="0" y="0"/>
                </a:moveTo>
                <a:lnTo>
                  <a:pt x="10849" y="0"/>
                </a:lnTo>
                <a:lnTo>
                  <a:pt x="1084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7476840" y="1238040"/>
            <a:ext cx="4143960" cy="457560"/>
          </a:xfrm>
          <a:custGeom>
            <a:avLst/>
            <a:gdLst/>
            <a:ahLst/>
            <a:rect l="0" t="0" r="r" b="b"/>
            <a:pathLst>
              <a:path w="11511" h="1271">
                <a:moveTo>
                  <a:pt x="0" y="0"/>
                </a:moveTo>
                <a:lnTo>
                  <a:pt x="11511" y="0"/>
                </a:lnTo>
                <a:lnTo>
                  <a:pt x="11511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571320" y="1228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71320" y="122868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304640" y="122868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314360" y="122868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3562200" y="1228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3571560" y="1228680"/>
            <a:ext cx="3915360" cy="9720"/>
          </a:xfrm>
          <a:custGeom>
            <a:avLst/>
            <a:gdLst/>
            <a:ahLst/>
            <a:rect l="0" t="0" r="r" b="b"/>
            <a:pathLst>
              <a:path w="10876" h="27">
                <a:moveTo>
                  <a:pt x="0" y="0"/>
                </a:moveTo>
                <a:lnTo>
                  <a:pt x="10876" y="0"/>
                </a:lnTo>
                <a:lnTo>
                  <a:pt x="108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476840" y="122868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486560" y="12286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1610720" y="1228680"/>
            <a:ext cx="10440" cy="466920"/>
          </a:xfrm>
          <a:custGeom>
            <a:avLst/>
            <a:gdLst/>
            <a:ahLst/>
            <a:rect l="0" t="0" r="r" b="b"/>
            <a:pathLst>
              <a:path w="29" h="1297">
                <a:moveTo>
                  <a:pt x="0" y="0"/>
                </a:moveTo>
                <a:lnTo>
                  <a:pt x="29" y="0"/>
                </a:lnTo>
                <a:lnTo>
                  <a:pt x="29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571320" y="168588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314360" y="168588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571560" y="1685880"/>
            <a:ext cx="3915360" cy="9720"/>
          </a:xfrm>
          <a:custGeom>
            <a:avLst/>
            <a:gdLst/>
            <a:ahLst/>
            <a:rect l="0" t="0" r="r" b="b"/>
            <a:pathLst>
              <a:path w="10876" h="27">
                <a:moveTo>
                  <a:pt x="0" y="0"/>
                </a:moveTo>
                <a:lnTo>
                  <a:pt x="10876" y="0"/>
                </a:lnTo>
                <a:lnTo>
                  <a:pt x="108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7486560" y="16858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571320" y="1695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304640" y="16952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562200" y="16952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7476840" y="16952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1610720" y="16952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71320" y="2152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71320" y="214308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304640" y="21524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314360" y="214308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3562200" y="21524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3571560" y="2143080"/>
            <a:ext cx="3915360" cy="9720"/>
          </a:xfrm>
          <a:custGeom>
            <a:avLst/>
            <a:gdLst/>
            <a:ahLst/>
            <a:rect l="0" t="0" r="r" b="b"/>
            <a:pathLst>
              <a:path w="10876" h="27">
                <a:moveTo>
                  <a:pt x="0" y="0"/>
                </a:moveTo>
                <a:lnTo>
                  <a:pt x="10876" y="0"/>
                </a:lnTo>
                <a:lnTo>
                  <a:pt x="108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7476840" y="21524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7486560" y="21430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1610720" y="21524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71320" y="26096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71320" y="260028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304640" y="26096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314360" y="260028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562200" y="260964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571560" y="2600280"/>
            <a:ext cx="3915360" cy="9720"/>
          </a:xfrm>
          <a:custGeom>
            <a:avLst/>
            <a:gdLst/>
            <a:ahLst/>
            <a:rect l="0" t="0" r="r" b="b"/>
            <a:pathLst>
              <a:path w="10876" h="27">
                <a:moveTo>
                  <a:pt x="0" y="0"/>
                </a:moveTo>
                <a:lnTo>
                  <a:pt x="10876" y="0"/>
                </a:lnTo>
                <a:lnTo>
                  <a:pt x="108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7476840" y="260964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7486560" y="26002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1610720" y="2609640"/>
            <a:ext cx="10440" cy="457560"/>
          </a:xfrm>
          <a:custGeom>
            <a:avLst/>
            <a:gdLst/>
            <a:ahLst/>
            <a:rect l="0" t="0" r="r" b="b"/>
            <a:pathLst>
              <a:path w="29" h="1271">
                <a:moveTo>
                  <a:pt x="0" y="0"/>
                </a:moveTo>
                <a:lnTo>
                  <a:pt x="29" y="0"/>
                </a:lnTo>
                <a:lnTo>
                  <a:pt x="29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571320" y="305748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314360" y="3057480"/>
            <a:ext cx="2257560" cy="9720"/>
          </a:xfrm>
          <a:custGeom>
            <a:avLst/>
            <a:gdLst/>
            <a:ahLst/>
            <a:rect l="0" t="0" r="r" b="b"/>
            <a:pathLst>
              <a:path w="6271" h="27">
                <a:moveTo>
                  <a:pt x="0" y="0"/>
                </a:moveTo>
                <a:lnTo>
                  <a:pt x="6271" y="0"/>
                </a:lnTo>
                <a:lnTo>
                  <a:pt x="6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571560" y="3057480"/>
            <a:ext cx="3915360" cy="9720"/>
          </a:xfrm>
          <a:custGeom>
            <a:avLst/>
            <a:gdLst/>
            <a:ahLst/>
            <a:rect l="0" t="0" r="r" b="b"/>
            <a:pathLst>
              <a:path w="10876" h="27">
                <a:moveTo>
                  <a:pt x="0" y="0"/>
                </a:moveTo>
                <a:lnTo>
                  <a:pt x="10876" y="0"/>
                </a:lnTo>
                <a:lnTo>
                  <a:pt x="108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486560" y="3057480"/>
            <a:ext cx="4134240" cy="9720"/>
          </a:xfrm>
          <a:custGeom>
            <a:avLst/>
            <a:gdLst/>
            <a:ahLst/>
            <a:rect l="0" t="0" r="r" b="b"/>
            <a:pathLst>
              <a:path w="11484" h="27">
                <a:moveTo>
                  <a:pt x="0" y="0"/>
                </a:moveTo>
                <a:lnTo>
                  <a:pt x="11484" y="0"/>
                </a:lnTo>
                <a:lnTo>
                  <a:pt x="11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571320" y="602280"/>
            <a:ext cx="47570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Python Packages for Faces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16760" y="1348200"/>
            <a:ext cx="259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No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450440" y="1348200"/>
            <a:ext cx="5310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Name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708360" y="1348200"/>
            <a:ext cx="1073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Description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7621920" y="1348200"/>
            <a:ext cx="4014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Link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16760" y="18054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1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450440" y="1805400"/>
            <a:ext cx="7048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MTCNN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708360" y="1805400"/>
            <a:ext cx="25596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CNN model for face detection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7621920" y="1805400"/>
            <a:ext cx="1919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pypi.org/project/mtcnn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716760" y="22626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2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1450440" y="2262600"/>
            <a:ext cx="8344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Deepface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3708360" y="2262600"/>
            <a:ext cx="26128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CNN model for age estimation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621920" y="2262600"/>
            <a:ext cx="21906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pypi.org/project/deepface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716760" y="2719800"/>
            <a:ext cx="194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450440" y="2719800"/>
            <a:ext cx="13874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face-recognition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708360" y="2719800"/>
            <a:ext cx="2027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Face recognition library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7621920" y="2719800"/>
            <a:ext cx="27759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Arial"/>
                <a:ea typeface="Arial"/>
              </a:rPr>
              <a:t>pypi.org/project/face-recognition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24/25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95160" y="138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3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6"/>
                  <a:pt x="19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895320" y="1266480"/>
            <a:ext cx="3772080" cy="286200"/>
          </a:xfrm>
          <a:custGeom>
            <a:avLst/>
            <a:gdLst/>
            <a:ahLst/>
            <a:rect l="0" t="0" r="r" b="b"/>
            <a:pathLst>
              <a:path w="10478" h="795">
                <a:moveTo>
                  <a:pt x="0" y="689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10372" y="0"/>
                </a:lnTo>
                <a:cubicBezTo>
                  <a:pt x="10386" y="0"/>
                  <a:pt x="10400" y="3"/>
                  <a:pt x="10413" y="9"/>
                </a:cubicBezTo>
                <a:cubicBezTo>
                  <a:pt x="10426" y="14"/>
                  <a:pt x="10437" y="21"/>
                  <a:pt x="10447" y="31"/>
                </a:cubicBezTo>
                <a:cubicBezTo>
                  <a:pt x="10457" y="41"/>
                  <a:pt x="10465" y="54"/>
                  <a:pt x="10470" y="67"/>
                </a:cubicBezTo>
                <a:cubicBezTo>
                  <a:pt x="10475" y="80"/>
                  <a:pt x="10478" y="93"/>
                  <a:pt x="10478" y="107"/>
                </a:cubicBezTo>
                <a:lnTo>
                  <a:pt x="10478" y="689"/>
                </a:lnTo>
                <a:cubicBezTo>
                  <a:pt x="10478" y="703"/>
                  <a:pt x="10475" y="717"/>
                  <a:pt x="10470" y="730"/>
                </a:cubicBezTo>
                <a:cubicBezTo>
                  <a:pt x="10465" y="743"/>
                  <a:pt x="10457" y="754"/>
                  <a:pt x="10447" y="764"/>
                </a:cubicBezTo>
                <a:cubicBezTo>
                  <a:pt x="10437" y="774"/>
                  <a:pt x="10426" y="782"/>
                  <a:pt x="10413" y="787"/>
                </a:cubicBezTo>
                <a:cubicBezTo>
                  <a:pt x="10400" y="792"/>
                  <a:pt x="10386" y="795"/>
                  <a:pt x="10372" y="795"/>
                </a:cubicBezTo>
                <a:lnTo>
                  <a:pt x="105" y="795"/>
                </a:lnTo>
                <a:cubicBezTo>
                  <a:pt x="91" y="795"/>
                  <a:pt x="78" y="792"/>
                  <a:pt x="65" y="787"/>
                </a:cubicBezTo>
                <a:cubicBezTo>
                  <a:pt x="52" y="782"/>
                  <a:pt x="41" y="774"/>
                  <a:pt x="31" y="764"/>
                </a:cubicBezTo>
                <a:cubicBezTo>
                  <a:pt x="21" y="754"/>
                  <a:pt x="13" y="743"/>
                  <a:pt x="8" y="730"/>
                </a:cubicBezTo>
                <a:cubicBezTo>
                  <a:pt x="2" y="717"/>
                  <a:pt x="0" y="703"/>
                  <a:pt x="0" y="689"/>
                </a:cubicBez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571320" y="602280"/>
            <a:ext cx="34966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80" spc="-1" strike="noStrike">
                <a:solidFill>
                  <a:srgbClr val="16213e"/>
                </a:solidFill>
                <a:latin typeface="Arial"/>
                <a:ea typeface="Arial"/>
              </a:rPr>
              <a:t>Exercise Notebooks</a:t>
            </a:r>
            <a:endParaRPr b="0" lang="en-US" sz="2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95160" y="1790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7" y="174"/>
                  <a:pt x="37" y="167"/>
                  <a:pt x="28" y="159"/>
                </a:cubicBezTo>
                <a:cubicBezTo>
                  <a:pt x="19" y="150"/>
                  <a:pt x="13" y="140"/>
                  <a:pt x="7" y="129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3" y="45"/>
                  <a:pt x="19" y="35"/>
                  <a:pt x="28" y="27"/>
                </a:cubicBezTo>
                <a:cubicBezTo>
                  <a:pt x="37" y="18"/>
                  <a:pt x="47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f34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895320" y="1676160"/>
            <a:ext cx="3543480" cy="286200"/>
          </a:xfrm>
          <a:custGeom>
            <a:avLst/>
            <a:gdLst/>
            <a:ahLst/>
            <a:rect l="0" t="0" r="r" b="b"/>
            <a:pathLst>
              <a:path w="9843" h="795">
                <a:moveTo>
                  <a:pt x="0" y="689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9737" y="0"/>
                </a:lnTo>
                <a:cubicBezTo>
                  <a:pt x="9751" y="0"/>
                  <a:pt x="9765" y="3"/>
                  <a:pt x="9778" y="8"/>
                </a:cubicBezTo>
                <a:cubicBezTo>
                  <a:pt x="9791" y="14"/>
                  <a:pt x="9802" y="21"/>
                  <a:pt x="9812" y="31"/>
                </a:cubicBezTo>
                <a:cubicBezTo>
                  <a:pt x="9822" y="41"/>
                  <a:pt x="9830" y="52"/>
                  <a:pt x="9835" y="65"/>
                </a:cubicBezTo>
                <a:cubicBezTo>
                  <a:pt x="9840" y="78"/>
                  <a:pt x="9843" y="92"/>
                  <a:pt x="9843" y="106"/>
                </a:cubicBezTo>
                <a:lnTo>
                  <a:pt x="9843" y="689"/>
                </a:lnTo>
                <a:cubicBezTo>
                  <a:pt x="9843" y="703"/>
                  <a:pt x="9840" y="717"/>
                  <a:pt x="9835" y="730"/>
                </a:cubicBezTo>
                <a:cubicBezTo>
                  <a:pt x="9830" y="742"/>
                  <a:pt x="9822" y="754"/>
                  <a:pt x="9812" y="764"/>
                </a:cubicBezTo>
                <a:cubicBezTo>
                  <a:pt x="9802" y="774"/>
                  <a:pt x="9791" y="781"/>
                  <a:pt x="9778" y="787"/>
                </a:cubicBezTo>
                <a:cubicBezTo>
                  <a:pt x="9765" y="792"/>
                  <a:pt x="9751" y="795"/>
                  <a:pt x="9737" y="795"/>
                </a:cubicBezTo>
                <a:lnTo>
                  <a:pt x="105" y="795"/>
                </a:lnTo>
                <a:cubicBezTo>
                  <a:pt x="91" y="795"/>
                  <a:pt x="78" y="792"/>
                  <a:pt x="65" y="787"/>
                </a:cubicBezTo>
                <a:cubicBezTo>
                  <a:pt x="52" y="781"/>
                  <a:pt x="41" y="774"/>
                  <a:pt x="31" y="764"/>
                </a:cubicBezTo>
                <a:cubicBezTo>
                  <a:pt x="21" y="754"/>
                  <a:pt x="13" y="742"/>
                  <a:pt x="8" y="730"/>
                </a:cubicBezTo>
                <a:cubicBezTo>
                  <a:pt x="2" y="717"/>
                  <a:pt x="0" y="703"/>
                  <a:pt x="0" y="689"/>
                </a:cubicBezTo>
                <a:close/>
              </a:path>
            </a:pathLst>
          </a:custGeom>
          <a:solidFill>
            <a:srgbClr val="f4f4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969120" y="1296360"/>
            <a:ext cx="3639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Gezichtsdetectie_with_cnn.ipynb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969120" y="1706040"/>
            <a:ext cx="34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3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Age_estimation_Deepface.ipynb</a:t>
            </a:r>
            <a:endParaRPr b="0" lang="en-US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28600" y="6593400"/>
            <a:ext cx="12549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Intro CV — Master AAI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1653560" y="6593400"/>
            <a:ext cx="308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25/25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
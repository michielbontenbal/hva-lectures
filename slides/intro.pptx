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4"/>
    <p:sldMasterId id="2147483696" r:id="rId5"/>
    <p:sldMasterId id="2147483707" r:id="rId6"/>
    <p:sldMasterId id="2147483718" r:id="rId7"/>
  </p:sldMasterIdLst>
  <p:notesMasterIdLst>
    <p:notesMasterId r:id="rId38"/>
  </p:notesMasterIdLst>
  <p:sldIdLst>
    <p:sldId id="1040" r:id="rId8"/>
    <p:sldId id="1064" r:id="rId9"/>
    <p:sldId id="1076" r:id="rId10"/>
    <p:sldId id="1077" r:id="rId11"/>
    <p:sldId id="1087" r:id="rId12"/>
    <p:sldId id="1089" r:id="rId13"/>
    <p:sldId id="1090" r:id="rId14"/>
    <p:sldId id="1078" r:id="rId15"/>
    <p:sldId id="1082" r:id="rId16"/>
    <p:sldId id="556" r:id="rId17"/>
    <p:sldId id="588" r:id="rId18"/>
    <p:sldId id="596" r:id="rId19"/>
    <p:sldId id="1084" r:id="rId20"/>
    <p:sldId id="1080" r:id="rId21"/>
    <p:sldId id="1083" r:id="rId22"/>
    <p:sldId id="1088" r:id="rId23"/>
    <p:sldId id="1066" r:id="rId24"/>
    <p:sldId id="1068" r:id="rId25"/>
    <p:sldId id="1067" r:id="rId26"/>
    <p:sldId id="1069" r:id="rId27"/>
    <p:sldId id="1070" r:id="rId28"/>
    <p:sldId id="1072" r:id="rId29"/>
    <p:sldId id="1071" r:id="rId30"/>
    <p:sldId id="1073" r:id="rId31"/>
    <p:sldId id="1074" r:id="rId32"/>
    <p:sldId id="1075" r:id="rId33"/>
    <p:sldId id="1085" r:id="rId34"/>
    <p:sldId id="607" r:id="rId35"/>
    <p:sldId id="605" r:id="rId36"/>
    <p:sldId id="606" r:id="rId37"/>
  </p:sldIdLst>
  <p:sldSz cx="18288000" cy="10287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A12FC3-1223-0C83-AEDB-784EB48D4895}" name="Saskia Robben" initials="SR" userId="S::s.m.b.robben@hva.nl::6e13155e-9f8d-458b-a779-54d256fef7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1C00"/>
    <a:srgbClr val="703200"/>
    <a:srgbClr val="984807"/>
    <a:srgbClr val="011836"/>
    <a:srgbClr val="F79C69"/>
    <a:srgbClr val="2F528F"/>
    <a:srgbClr val="F0F0F0"/>
    <a:srgbClr val="F08026"/>
    <a:srgbClr val="FAF9F6"/>
    <a:srgbClr val="F59B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17217-CFB7-2B49-99A9-1CFF3E361003}" v="7" dt="2025-09-04T12:33:06.3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Stijl, licht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Stijl, licht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0"/>
    <p:restoredTop sz="94664"/>
  </p:normalViewPr>
  <p:slideViewPr>
    <p:cSldViewPr snapToGrid="0">
      <p:cViewPr varScale="1">
        <p:scale>
          <a:sx n="101" d="100"/>
          <a:sy n="101" d="100"/>
        </p:scale>
        <p:origin x="840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presProps" Target="presProp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microsoft.com/office/2016/11/relationships/changesInfo" Target="changesInfos/changesInfo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iel Bontenbal" userId="57333c6a-db0f-4197-a30b-f003c0e68cb1" providerId="ADAL" clId="{5FD54774-5627-54F8-88F2-AE236FB513AE}"/>
    <pc:docChg chg="modSld">
      <pc:chgData name="Michiel Bontenbal" userId="57333c6a-db0f-4197-a30b-f003c0e68cb1" providerId="ADAL" clId="{5FD54774-5627-54F8-88F2-AE236FB513AE}" dt="2025-09-04T12:33:06.308" v="354"/>
      <pc:docMkLst>
        <pc:docMk/>
      </pc:docMkLst>
      <pc:sldChg chg="addSp modSp mod">
        <pc:chgData name="Michiel Bontenbal" userId="57333c6a-db0f-4197-a30b-f003c0e68cb1" providerId="ADAL" clId="{5FD54774-5627-54F8-88F2-AE236FB513AE}" dt="2025-09-04T08:17:50.572" v="349" actId="20577"/>
        <pc:sldMkLst>
          <pc:docMk/>
          <pc:sldMk cId="4263482430" sldId="605"/>
        </pc:sldMkLst>
        <pc:spChg chg="mod">
          <ac:chgData name="Michiel Bontenbal" userId="57333c6a-db0f-4197-a30b-f003c0e68cb1" providerId="ADAL" clId="{5FD54774-5627-54F8-88F2-AE236FB513AE}" dt="2025-09-04T08:15:19.827" v="88" actId="20577"/>
          <ac:spMkLst>
            <pc:docMk/>
            <pc:sldMk cId="4263482430" sldId="605"/>
            <ac:spMk id="2" creationId="{1B894351-A266-58D1-87C4-53F81B67144C}"/>
          </ac:spMkLst>
        </pc:spChg>
        <pc:spChg chg="add mod">
          <ac:chgData name="Michiel Bontenbal" userId="57333c6a-db0f-4197-a30b-f003c0e68cb1" providerId="ADAL" clId="{5FD54774-5627-54F8-88F2-AE236FB513AE}" dt="2025-09-04T08:17:50.572" v="349" actId="20577"/>
          <ac:spMkLst>
            <pc:docMk/>
            <pc:sldMk cId="4263482430" sldId="605"/>
            <ac:spMk id="3" creationId="{ADADBFE6-1898-B613-44EA-681591E446AB}"/>
          </ac:spMkLst>
        </pc:spChg>
        <pc:graphicFrameChg chg="mod modGraphic">
          <ac:chgData name="Michiel Bontenbal" userId="57333c6a-db0f-4197-a30b-f003c0e68cb1" providerId="ADAL" clId="{5FD54774-5627-54F8-88F2-AE236FB513AE}" dt="2025-09-04T08:16:27.518" v="90" actId="1076"/>
          <ac:graphicFrameMkLst>
            <pc:docMk/>
            <pc:sldMk cId="4263482430" sldId="605"/>
            <ac:graphicFrameMk id="6" creationId="{D9A0A0A8-BA0C-9219-351E-FDC5AF2AB21B}"/>
          </ac:graphicFrameMkLst>
        </pc:graphicFrameChg>
      </pc:sldChg>
      <pc:sldChg chg="modSp mod">
        <pc:chgData name="Michiel Bontenbal" userId="57333c6a-db0f-4197-a30b-f003c0e68cb1" providerId="ADAL" clId="{5FD54774-5627-54F8-88F2-AE236FB513AE}" dt="2025-09-04T08:14:47.378" v="49" actId="403"/>
        <pc:sldMkLst>
          <pc:docMk/>
          <pc:sldMk cId="1238825591" sldId="606"/>
        </pc:sldMkLst>
        <pc:spChg chg="mod">
          <ac:chgData name="Michiel Bontenbal" userId="57333c6a-db0f-4197-a30b-f003c0e68cb1" providerId="ADAL" clId="{5FD54774-5627-54F8-88F2-AE236FB513AE}" dt="2025-09-04T08:14:47.378" v="49" actId="403"/>
          <ac:spMkLst>
            <pc:docMk/>
            <pc:sldMk cId="1238825591" sldId="606"/>
            <ac:spMk id="3" creationId="{D3738A3E-348C-B6E1-E34C-35C8F1B6E73A}"/>
          </ac:spMkLst>
        </pc:spChg>
      </pc:sldChg>
      <pc:sldChg chg="modSp">
        <pc:chgData name="Michiel Bontenbal" userId="57333c6a-db0f-4197-a30b-f003c0e68cb1" providerId="ADAL" clId="{5FD54774-5627-54F8-88F2-AE236FB513AE}" dt="2025-09-04T12:33:06.308" v="354"/>
        <pc:sldMkLst>
          <pc:docMk/>
          <pc:sldMk cId="4002071955" sldId="1064"/>
        </pc:sldMkLst>
        <pc:graphicFrameChg chg="mod">
          <ac:chgData name="Michiel Bontenbal" userId="57333c6a-db0f-4197-a30b-f003c0e68cb1" providerId="ADAL" clId="{5FD54774-5627-54F8-88F2-AE236FB513AE}" dt="2025-09-04T12:33:06.308" v="354"/>
          <ac:graphicFrameMkLst>
            <pc:docMk/>
            <pc:sldMk cId="4002071955" sldId="1064"/>
            <ac:graphicFrameMk id="6" creationId="{767A2B49-222F-7642-296B-BDDA9D1F0FDF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D04D54-AA00-4A8A-8DCD-6D2746D1669E}" type="doc">
      <dgm:prSet loTypeId="urn:microsoft.com/office/officeart/2005/8/layout/vProcess5" loCatId="process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A3A86FFD-8582-40F0-A069-6EA3B09F7387}">
      <dgm:prSet/>
      <dgm:spPr/>
      <dgm:t>
        <a:bodyPr/>
        <a:lstStyle/>
        <a:p>
          <a:r>
            <a:rPr lang="en-GB">
              <a:latin typeface="Calibri"/>
            </a:rPr>
            <a:t>Introduction</a:t>
          </a:r>
          <a:r>
            <a:rPr lang="en-GB"/>
            <a:t> Tech workshop curriculum</a:t>
          </a:r>
          <a:endParaRPr lang="en-US"/>
        </a:p>
      </dgm:t>
    </dgm:pt>
    <dgm:pt modelId="{9B44AA7B-B792-47A9-94CD-031FBBA108D1}" type="parTrans" cxnId="{12A2ADE2-93AC-4BD1-8CC9-BF881A253C33}">
      <dgm:prSet/>
      <dgm:spPr/>
      <dgm:t>
        <a:bodyPr/>
        <a:lstStyle/>
        <a:p>
          <a:endParaRPr lang="en-US"/>
        </a:p>
      </dgm:t>
    </dgm:pt>
    <dgm:pt modelId="{C6F84883-769B-4680-8CDB-6EEA79701095}" type="sibTrans" cxnId="{12A2ADE2-93AC-4BD1-8CC9-BF881A253C33}">
      <dgm:prSet/>
      <dgm:spPr/>
      <dgm:t>
        <a:bodyPr/>
        <a:lstStyle/>
        <a:p>
          <a:endParaRPr lang="en-US"/>
        </a:p>
      </dgm:t>
    </dgm:pt>
    <dgm:pt modelId="{A5D8F4E2-73D6-4581-9242-2E492A5871ED}">
      <dgm:prSet/>
      <dgm:spPr/>
      <dgm:t>
        <a:bodyPr/>
        <a:lstStyle/>
        <a:p>
          <a:r>
            <a:rPr lang="en-GB"/>
            <a:t>AI-assisted coding</a:t>
          </a:r>
          <a:endParaRPr lang="en-US"/>
        </a:p>
      </dgm:t>
    </dgm:pt>
    <dgm:pt modelId="{529AC4AD-B59B-4C0D-95EA-23988C230B74}" type="parTrans" cxnId="{550A39EE-5978-4EB0-A6C8-8118D2A73D79}">
      <dgm:prSet/>
      <dgm:spPr/>
      <dgm:t>
        <a:bodyPr/>
        <a:lstStyle/>
        <a:p>
          <a:endParaRPr lang="en-US"/>
        </a:p>
      </dgm:t>
    </dgm:pt>
    <dgm:pt modelId="{976FA49B-B63E-41C2-A70B-9FBCC5C503F3}" type="sibTrans" cxnId="{550A39EE-5978-4EB0-A6C8-8118D2A73D79}">
      <dgm:prSet/>
      <dgm:spPr/>
      <dgm:t>
        <a:bodyPr/>
        <a:lstStyle/>
        <a:p>
          <a:endParaRPr lang="en-US"/>
        </a:p>
      </dgm:t>
    </dgm:pt>
    <dgm:pt modelId="{E3CF09CF-A6EB-495B-9B5A-ECEA39440E28}">
      <dgm:prSet/>
      <dgm:spPr/>
      <dgm:t>
        <a:bodyPr/>
        <a:lstStyle/>
        <a:p>
          <a:r>
            <a:rPr lang="en-GB" dirty="0"/>
            <a:t>Data Exploration and Initial Analysis: How </a:t>
          </a:r>
          <a:r>
            <a:rPr lang="en-GB" dirty="0">
              <a:latin typeface="Calibri"/>
            </a:rPr>
            <a:t>To</a:t>
          </a:r>
          <a:endParaRPr lang="en-US" dirty="0"/>
        </a:p>
      </dgm:t>
    </dgm:pt>
    <dgm:pt modelId="{0C6AA89A-62E7-4F4B-9397-370264E1B0F7}" type="parTrans" cxnId="{48F6B38F-DA2F-45F6-B543-C066C9897EA8}">
      <dgm:prSet/>
      <dgm:spPr/>
      <dgm:t>
        <a:bodyPr/>
        <a:lstStyle/>
        <a:p>
          <a:endParaRPr lang="en-US"/>
        </a:p>
      </dgm:t>
    </dgm:pt>
    <dgm:pt modelId="{69F6CFD4-410F-43A6-8A76-8367719ECE9E}" type="sibTrans" cxnId="{48F6B38F-DA2F-45F6-B543-C066C9897EA8}">
      <dgm:prSet/>
      <dgm:spPr/>
      <dgm:t>
        <a:bodyPr/>
        <a:lstStyle/>
        <a:p>
          <a:endParaRPr lang="en-US"/>
        </a:p>
      </dgm:t>
    </dgm:pt>
    <dgm:pt modelId="{93B9D41B-000E-334B-8849-EB73635E5663}">
      <dgm:prSet phldr="0"/>
      <dgm:spPr/>
      <dgm:t>
        <a:bodyPr/>
        <a:lstStyle/>
        <a:p>
          <a:r>
            <a:rPr lang="en-GB">
              <a:latin typeface="Calibri"/>
            </a:rPr>
            <a:t>Faces</a:t>
          </a:r>
          <a:endParaRPr lang="en-US" dirty="0"/>
        </a:p>
      </dgm:t>
    </dgm:pt>
    <dgm:pt modelId="{75088556-BE54-764C-9B36-F73B9458034B}" type="parTrans" cxnId="{52FAE392-CBA6-0644-B66B-87722253B4AD}">
      <dgm:prSet/>
      <dgm:spPr/>
    </dgm:pt>
    <dgm:pt modelId="{59D50C04-B06B-184B-A31F-9A770742E75E}" type="sibTrans" cxnId="{52FAE392-CBA6-0644-B66B-87722253B4AD}">
      <dgm:prSet/>
      <dgm:spPr/>
      <dgm:t>
        <a:bodyPr/>
        <a:lstStyle/>
        <a:p>
          <a:endParaRPr lang="en-US"/>
        </a:p>
      </dgm:t>
    </dgm:pt>
    <dgm:pt modelId="{3A01369C-9202-4130-92BD-397BC3C88D3B}" type="pres">
      <dgm:prSet presAssocID="{FDD04D54-AA00-4A8A-8DCD-6D2746D1669E}" presName="outerComposite" presStyleCnt="0">
        <dgm:presLayoutVars>
          <dgm:chMax val="5"/>
          <dgm:dir/>
          <dgm:resizeHandles val="exact"/>
        </dgm:presLayoutVars>
      </dgm:prSet>
      <dgm:spPr/>
    </dgm:pt>
    <dgm:pt modelId="{31ED5608-2EA6-4851-8BB3-57CAF4F0DDE9}" type="pres">
      <dgm:prSet presAssocID="{FDD04D54-AA00-4A8A-8DCD-6D2746D1669E}" presName="dummyMaxCanvas" presStyleCnt="0">
        <dgm:presLayoutVars/>
      </dgm:prSet>
      <dgm:spPr/>
    </dgm:pt>
    <dgm:pt modelId="{62AA98F6-FB01-9B40-8173-D24898B678BE}" type="pres">
      <dgm:prSet presAssocID="{FDD04D54-AA00-4A8A-8DCD-6D2746D1669E}" presName="FourNodes_1" presStyleLbl="node1" presStyleIdx="0" presStyleCnt="4">
        <dgm:presLayoutVars>
          <dgm:bulletEnabled val="1"/>
        </dgm:presLayoutVars>
      </dgm:prSet>
      <dgm:spPr/>
    </dgm:pt>
    <dgm:pt modelId="{F0F29328-93E1-FD48-8B06-60D6294F04ED}" type="pres">
      <dgm:prSet presAssocID="{FDD04D54-AA00-4A8A-8DCD-6D2746D1669E}" presName="FourNodes_2" presStyleLbl="node1" presStyleIdx="1" presStyleCnt="4">
        <dgm:presLayoutVars>
          <dgm:bulletEnabled val="1"/>
        </dgm:presLayoutVars>
      </dgm:prSet>
      <dgm:spPr/>
    </dgm:pt>
    <dgm:pt modelId="{ECECE48D-AAA0-344D-9493-AC754760A17F}" type="pres">
      <dgm:prSet presAssocID="{FDD04D54-AA00-4A8A-8DCD-6D2746D1669E}" presName="FourNodes_3" presStyleLbl="node1" presStyleIdx="2" presStyleCnt="4" custLinFactNeighborX="-861" custLinFactNeighborY="-7946">
        <dgm:presLayoutVars>
          <dgm:bulletEnabled val="1"/>
        </dgm:presLayoutVars>
      </dgm:prSet>
      <dgm:spPr/>
    </dgm:pt>
    <dgm:pt modelId="{1B5FB9C1-E865-5B4A-8EF0-09BCED3D1BB9}" type="pres">
      <dgm:prSet presAssocID="{FDD04D54-AA00-4A8A-8DCD-6D2746D1669E}" presName="FourNodes_4" presStyleLbl="node1" presStyleIdx="3" presStyleCnt="4">
        <dgm:presLayoutVars>
          <dgm:bulletEnabled val="1"/>
        </dgm:presLayoutVars>
      </dgm:prSet>
      <dgm:spPr/>
    </dgm:pt>
    <dgm:pt modelId="{D8C1002E-AF0C-984C-AA3F-8D3B66C0659A}" type="pres">
      <dgm:prSet presAssocID="{FDD04D54-AA00-4A8A-8DCD-6D2746D1669E}" presName="FourConn_1-2" presStyleLbl="fgAccFollowNode1" presStyleIdx="0" presStyleCnt="3">
        <dgm:presLayoutVars>
          <dgm:bulletEnabled val="1"/>
        </dgm:presLayoutVars>
      </dgm:prSet>
      <dgm:spPr/>
    </dgm:pt>
    <dgm:pt modelId="{AF4C7F8D-4C1C-4E4F-9F16-FBF57129CB99}" type="pres">
      <dgm:prSet presAssocID="{FDD04D54-AA00-4A8A-8DCD-6D2746D1669E}" presName="FourConn_2-3" presStyleLbl="fgAccFollowNode1" presStyleIdx="1" presStyleCnt="3">
        <dgm:presLayoutVars>
          <dgm:bulletEnabled val="1"/>
        </dgm:presLayoutVars>
      </dgm:prSet>
      <dgm:spPr/>
    </dgm:pt>
    <dgm:pt modelId="{3FFD2142-2C4D-E048-8E2D-79F8F8D668E8}" type="pres">
      <dgm:prSet presAssocID="{FDD04D54-AA00-4A8A-8DCD-6D2746D1669E}" presName="FourConn_3-4" presStyleLbl="fgAccFollowNode1" presStyleIdx="2" presStyleCnt="3">
        <dgm:presLayoutVars>
          <dgm:bulletEnabled val="1"/>
        </dgm:presLayoutVars>
      </dgm:prSet>
      <dgm:spPr/>
    </dgm:pt>
    <dgm:pt modelId="{7C445DA4-FA6A-AB46-B146-4508145624B6}" type="pres">
      <dgm:prSet presAssocID="{FDD04D54-AA00-4A8A-8DCD-6D2746D1669E}" presName="FourNodes_1_text" presStyleLbl="node1" presStyleIdx="3" presStyleCnt="4">
        <dgm:presLayoutVars>
          <dgm:bulletEnabled val="1"/>
        </dgm:presLayoutVars>
      </dgm:prSet>
      <dgm:spPr/>
    </dgm:pt>
    <dgm:pt modelId="{3998EDBA-2210-834E-A45C-247F1ED396CA}" type="pres">
      <dgm:prSet presAssocID="{FDD04D54-AA00-4A8A-8DCD-6D2746D1669E}" presName="FourNodes_2_text" presStyleLbl="node1" presStyleIdx="3" presStyleCnt="4">
        <dgm:presLayoutVars>
          <dgm:bulletEnabled val="1"/>
        </dgm:presLayoutVars>
      </dgm:prSet>
      <dgm:spPr/>
    </dgm:pt>
    <dgm:pt modelId="{A651E9A6-4327-1844-86DD-2E955FB2A770}" type="pres">
      <dgm:prSet presAssocID="{FDD04D54-AA00-4A8A-8DCD-6D2746D1669E}" presName="FourNodes_3_text" presStyleLbl="node1" presStyleIdx="3" presStyleCnt="4">
        <dgm:presLayoutVars>
          <dgm:bulletEnabled val="1"/>
        </dgm:presLayoutVars>
      </dgm:prSet>
      <dgm:spPr/>
    </dgm:pt>
    <dgm:pt modelId="{25BD173B-855C-984F-9D47-D366842A2A80}" type="pres">
      <dgm:prSet presAssocID="{FDD04D54-AA00-4A8A-8DCD-6D2746D1669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FE09E02-AE15-D94C-BB5F-D99BB7C5F2F8}" type="presOf" srcId="{976FA49B-B63E-41C2-A70B-9FBCC5C503F3}" destId="{AF4C7F8D-4C1C-4E4F-9F16-FBF57129CB99}" srcOrd="0" destOrd="0" presId="urn:microsoft.com/office/officeart/2005/8/layout/vProcess5"/>
    <dgm:cxn modelId="{3C182F20-1FFE-1346-A48E-E834A7408452}" type="presOf" srcId="{59D50C04-B06B-184B-A31F-9A770742E75E}" destId="{3FFD2142-2C4D-E048-8E2D-79F8F8D668E8}" srcOrd="0" destOrd="0" presId="urn:microsoft.com/office/officeart/2005/8/layout/vProcess5"/>
    <dgm:cxn modelId="{B3C3B232-FF03-DC42-956C-729EC6223B26}" type="presOf" srcId="{A3A86FFD-8582-40F0-A069-6EA3B09F7387}" destId="{7C445DA4-FA6A-AB46-B146-4508145624B6}" srcOrd="1" destOrd="0" presId="urn:microsoft.com/office/officeart/2005/8/layout/vProcess5"/>
    <dgm:cxn modelId="{23B12445-AA75-584C-803A-C0CA702AED1E}" type="presOf" srcId="{E3CF09CF-A6EB-495B-9B5A-ECEA39440E28}" destId="{25BD173B-855C-984F-9D47-D366842A2A80}" srcOrd="1" destOrd="0" presId="urn:microsoft.com/office/officeart/2005/8/layout/vProcess5"/>
    <dgm:cxn modelId="{8315654B-94AD-214E-9806-1502A44A9EA9}" type="presOf" srcId="{A3A86FFD-8582-40F0-A069-6EA3B09F7387}" destId="{62AA98F6-FB01-9B40-8173-D24898B678BE}" srcOrd="0" destOrd="0" presId="urn:microsoft.com/office/officeart/2005/8/layout/vProcess5"/>
    <dgm:cxn modelId="{D6919160-9166-BB45-A44A-AA23824FE431}" type="presOf" srcId="{A5D8F4E2-73D6-4581-9242-2E492A5871ED}" destId="{3998EDBA-2210-834E-A45C-247F1ED396CA}" srcOrd="1" destOrd="0" presId="urn:microsoft.com/office/officeart/2005/8/layout/vProcess5"/>
    <dgm:cxn modelId="{A4ACB77D-C675-A043-ADDF-4157BA83260C}" type="presOf" srcId="{C6F84883-769B-4680-8CDB-6EEA79701095}" destId="{D8C1002E-AF0C-984C-AA3F-8D3B66C0659A}" srcOrd="0" destOrd="0" presId="urn:microsoft.com/office/officeart/2005/8/layout/vProcess5"/>
    <dgm:cxn modelId="{48F6B38F-DA2F-45F6-B543-C066C9897EA8}" srcId="{FDD04D54-AA00-4A8A-8DCD-6D2746D1669E}" destId="{E3CF09CF-A6EB-495B-9B5A-ECEA39440E28}" srcOrd="3" destOrd="0" parTransId="{0C6AA89A-62E7-4F4B-9397-370264E1B0F7}" sibTransId="{69F6CFD4-410F-43A6-8A76-8367719ECE9E}"/>
    <dgm:cxn modelId="{7F2F6D91-6E17-40AF-A330-77E4A5E356EF}" type="presOf" srcId="{FDD04D54-AA00-4A8A-8DCD-6D2746D1669E}" destId="{3A01369C-9202-4130-92BD-397BC3C88D3B}" srcOrd="0" destOrd="0" presId="urn:microsoft.com/office/officeart/2005/8/layout/vProcess5"/>
    <dgm:cxn modelId="{52FAE392-CBA6-0644-B66B-87722253B4AD}" srcId="{FDD04D54-AA00-4A8A-8DCD-6D2746D1669E}" destId="{93B9D41B-000E-334B-8849-EB73635E5663}" srcOrd="2" destOrd="0" parTransId="{75088556-BE54-764C-9B36-F73B9458034B}" sibTransId="{59D50C04-B06B-184B-A31F-9A770742E75E}"/>
    <dgm:cxn modelId="{177BC7BE-C718-1343-99C4-03F9DB5552CA}" type="presOf" srcId="{A5D8F4E2-73D6-4581-9242-2E492A5871ED}" destId="{F0F29328-93E1-FD48-8B06-60D6294F04ED}" srcOrd="0" destOrd="0" presId="urn:microsoft.com/office/officeart/2005/8/layout/vProcess5"/>
    <dgm:cxn modelId="{2BED9ACD-1876-AB40-A2CA-A474E6979E35}" type="presOf" srcId="{E3CF09CF-A6EB-495B-9B5A-ECEA39440E28}" destId="{1B5FB9C1-E865-5B4A-8EF0-09BCED3D1BB9}" srcOrd="0" destOrd="0" presId="urn:microsoft.com/office/officeart/2005/8/layout/vProcess5"/>
    <dgm:cxn modelId="{309907CE-F929-5F4A-8A84-6F1F150F6F53}" type="presOf" srcId="{93B9D41B-000E-334B-8849-EB73635E5663}" destId="{A651E9A6-4327-1844-86DD-2E955FB2A770}" srcOrd="1" destOrd="0" presId="urn:microsoft.com/office/officeart/2005/8/layout/vProcess5"/>
    <dgm:cxn modelId="{12A2ADE2-93AC-4BD1-8CC9-BF881A253C33}" srcId="{FDD04D54-AA00-4A8A-8DCD-6D2746D1669E}" destId="{A3A86FFD-8582-40F0-A069-6EA3B09F7387}" srcOrd="0" destOrd="0" parTransId="{9B44AA7B-B792-47A9-94CD-031FBBA108D1}" sibTransId="{C6F84883-769B-4680-8CDB-6EEA79701095}"/>
    <dgm:cxn modelId="{550A39EE-5978-4EB0-A6C8-8118D2A73D79}" srcId="{FDD04D54-AA00-4A8A-8DCD-6D2746D1669E}" destId="{A5D8F4E2-73D6-4581-9242-2E492A5871ED}" srcOrd="1" destOrd="0" parTransId="{529AC4AD-B59B-4C0D-95EA-23988C230B74}" sibTransId="{976FA49B-B63E-41C2-A70B-9FBCC5C503F3}"/>
    <dgm:cxn modelId="{AF368EF6-107D-7C4E-8301-437D31BAA826}" type="presOf" srcId="{93B9D41B-000E-334B-8849-EB73635E5663}" destId="{ECECE48D-AAA0-344D-9493-AC754760A17F}" srcOrd="0" destOrd="0" presId="urn:microsoft.com/office/officeart/2005/8/layout/vProcess5"/>
    <dgm:cxn modelId="{8ECCBAE0-E148-4069-A51F-0FEFE3498597}" type="presParOf" srcId="{3A01369C-9202-4130-92BD-397BC3C88D3B}" destId="{31ED5608-2EA6-4851-8BB3-57CAF4F0DDE9}" srcOrd="0" destOrd="0" presId="urn:microsoft.com/office/officeart/2005/8/layout/vProcess5"/>
    <dgm:cxn modelId="{EF5AA6CB-0B9E-0A41-95D5-79A7C1BA46E0}" type="presParOf" srcId="{3A01369C-9202-4130-92BD-397BC3C88D3B}" destId="{62AA98F6-FB01-9B40-8173-D24898B678BE}" srcOrd="1" destOrd="0" presId="urn:microsoft.com/office/officeart/2005/8/layout/vProcess5"/>
    <dgm:cxn modelId="{A49E66C7-E32E-FA43-8410-79C670545806}" type="presParOf" srcId="{3A01369C-9202-4130-92BD-397BC3C88D3B}" destId="{F0F29328-93E1-FD48-8B06-60D6294F04ED}" srcOrd="2" destOrd="0" presId="urn:microsoft.com/office/officeart/2005/8/layout/vProcess5"/>
    <dgm:cxn modelId="{97DE35BB-EF51-534E-93E0-C44565BE7369}" type="presParOf" srcId="{3A01369C-9202-4130-92BD-397BC3C88D3B}" destId="{ECECE48D-AAA0-344D-9493-AC754760A17F}" srcOrd="3" destOrd="0" presId="urn:microsoft.com/office/officeart/2005/8/layout/vProcess5"/>
    <dgm:cxn modelId="{D64E08AA-50DA-CE4F-9E36-B2571EBB64BE}" type="presParOf" srcId="{3A01369C-9202-4130-92BD-397BC3C88D3B}" destId="{1B5FB9C1-E865-5B4A-8EF0-09BCED3D1BB9}" srcOrd="4" destOrd="0" presId="urn:microsoft.com/office/officeart/2005/8/layout/vProcess5"/>
    <dgm:cxn modelId="{BF358C37-F3E5-8D43-9D08-08CCEE845F15}" type="presParOf" srcId="{3A01369C-9202-4130-92BD-397BC3C88D3B}" destId="{D8C1002E-AF0C-984C-AA3F-8D3B66C0659A}" srcOrd="5" destOrd="0" presId="urn:microsoft.com/office/officeart/2005/8/layout/vProcess5"/>
    <dgm:cxn modelId="{914FEEAA-7097-D244-B2BD-D5947A8CBE08}" type="presParOf" srcId="{3A01369C-9202-4130-92BD-397BC3C88D3B}" destId="{AF4C7F8D-4C1C-4E4F-9F16-FBF57129CB99}" srcOrd="6" destOrd="0" presId="urn:microsoft.com/office/officeart/2005/8/layout/vProcess5"/>
    <dgm:cxn modelId="{BE9A216D-51B9-F149-AE0E-9DFE586721B9}" type="presParOf" srcId="{3A01369C-9202-4130-92BD-397BC3C88D3B}" destId="{3FFD2142-2C4D-E048-8E2D-79F8F8D668E8}" srcOrd="7" destOrd="0" presId="urn:microsoft.com/office/officeart/2005/8/layout/vProcess5"/>
    <dgm:cxn modelId="{1D115AA1-78FA-394E-9433-76C047FE2F8D}" type="presParOf" srcId="{3A01369C-9202-4130-92BD-397BC3C88D3B}" destId="{7C445DA4-FA6A-AB46-B146-4508145624B6}" srcOrd="8" destOrd="0" presId="urn:microsoft.com/office/officeart/2005/8/layout/vProcess5"/>
    <dgm:cxn modelId="{F7270E49-544F-DB41-BD36-B25419A173D6}" type="presParOf" srcId="{3A01369C-9202-4130-92BD-397BC3C88D3B}" destId="{3998EDBA-2210-834E-A45C-247F1ED396CA}" srcOrd="9" destOrd="0" presId="urn:microsoft.com/office/officeart/2005/8/layout/vProcess5"/>
    <dgm:cxn modelId="{234CECD6-15A5-1A46-8638-645F24B0994B}" type="presParOf" srcId="{3A01369C-9202-4130-92BD-397BC3C88D3B}" destId="{A651E9A6-4327-1844-86DD-2E955FB2A770}" srcOrd="10" destOrd="0" presId="urn:microsoft.com/office/officeart/2005/8/layout/vProcess5"/>
    <dgm:cxn modelId="{2CC00A33-8C68-F644-BD3C-429A1E26F219}" type="presParOf" srcId="{3A01369C-9202-4130-92BD-397BC3C88D3B}" destId="{25BD173B-855C-984F-9D47-D366842A2A8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A98F6-FB01-9B40-8173-D24898B678BE}">
      <dsp:nvSpPr>
        <dsp:cNvPr id="0" name=""/>
        <dsp:cNvSpPr/>
      </dsp:nvSpPr>
      <dsp:spPr>
        <a:xfrm>
          <a:off x="0" y="0"/>
          <a:ext cx="11803016" cy="143854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>
              <a:latin typeface="Calibri"/>
            </a:rPr>
            <a:t>Introduction</a:t>
          </a:r>
          <a:r>
            <a:rPr lang="en-GB" sz="4100" kern="1200"/>
            <a:t> Tech workshop curriculum</a:t>
          </a:r>
          <a:endParaRPr lang="en-US" sz="4100" kern="1200"/>
        </a:p>
      </dsp:txBody>
      <dsp:txXfrm>
        <a:off x="42133" y="42133"/>
        <a:ext cx="10129162" cy="1354275"/>
      </dsp:txXfrm>
    </dsp:sp>
    <dsp:sp modelId="{F0F29328-93E1-FD48-8B06-60D6294F04ED}">
      <dsp:nvSpPr>
        <dsp:cNvPr id="0" name=""/>
        <dsp:cNvSpPr/>
      </dsp:nvSpPr>
      <dsp:spPr>
        <a:xfrm>
          <a:off x="988502" y="1700093"/>
          <a:ext cx="11803016" cy="143854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/>
            <a:t>AI-assisted coding</a:t>
          </a:r>
          <a:endParaRPr lang="en-US" sz="4100" kern="1200"/>
        </a:p>
      </dsp:txBody>
      <dsp:txXfrm>
        <a:off x="1030635" y="1742226"/>
        <a:ext cx="9795195" cy="1354275"/>
      </dsp:txXfrm>
    </dsp:sp>
    <dsp:sp modelId="{ECECE48D-AAA0-344D-9493-AC754760A17F}">
      <dsp:nvSpPr>
        <dsp:cNvPr id="0" name=""/>
        <dsp:cNvSpPr/>
      </dsp:nvSpPr>
      <dsp:spPr>
        <a:xfrm>
          <a:off x="1860627" y="3285881"/>
          <a:ext cx="11803016" cy="143854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>
              <a:latin typeface="Calibri"/>
            </a:rPr>
            <a:t>Faces</a:t>
          </a:r>
          <a:endParaRPr lang="en-US" sz="4100" kern="1200" dirty="0"/>
        </a:p>
      </dsp:txBody>
      <dsp:txXfrm>
        <a:off x="1902760" y="3328014"/>
        <a:ext cx="9809949" cy="1354275"/>
      </dsp:txXfrm>
    </dsp:sp>
    <dsp:sp modelId="{1B5FB9C1-E865-5B4A-8EF0-09BCED3D1BB9}">
      <dsp:nvSpPr>
        <dsp:cNvPr id="0" name=""/>
        <dsp:cNvSpPr/>
      </dsp:nvSpPr>
      <dsp:spPr>
        <a:xfrm>
          <a:off x="2950753" y="5100281"/>
          <a:ext cx="11803016" cy="143854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kern="1200" dirty="0"/>
            <a:t>Data Exploration and Initial Analysis: How </a:t>
          </a:r>
          <a:r>
            <a:rPr lang="en-GB" sz="4100" kern="1200" dirty="0">
              <a:latin typeface="Calibri"/>
            </a:rPr>
            <a:t>To</a:t>
          </a:r>
          <a:endParaRPr lang="en-US" sz="4100" kern="1200" dirty="0"/>
        </a:p>
      </dsp:txBody>
      <dsp:txXfrm>
        <a:off x="2992886" y="5142414"/>
        <a:ext cx="9795195" cy="1354275"/>
      </dsp:txXfrm>
    </dsp:sp>
    <dsp:sp modelId="{D8C1002E-AF0C-984C-AA3F-8D3B66C0659A}">
      <dsp:nvSpPr>
        <dsp:cNvPr id="0" name=""/>
        <dsp:cNvSpPr/>
      </dsp:nvSpPr>
      <dsp:spPr>
        <a:xfrm>
          <a:off x="10867964" y="1101791"/>
          <a:ext cx="935051" cy="935051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1078350" y="1101791"/>
        <a:ext cx="514279" cy="703626"/>
      </dsp:txXfrm>
    </dsp:sp>
    <dsp:sp modelId="{AF4C7F8D-4C1C-4E4F-9F16-FBF57129CB99}">
      <dsp:nvSpPr>
        <dsp:cNvPr id="0" name=""/>
        <dsp:cNvSpPr/>
      </dsp:nvSpPr>
      <dsp:spPr>
        <a:xfrm>
          <a:off x="11856466" y="2801885"/>
          <a:ext cx="935051" cy="935051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2066852" y="2801885"/>
        <a:ext cx="514279" cy="703626"/>
      </dsp:txXfrm>
    </dsp:sp>
    <dsp:sp modelId="{3FFD2142-2C4D-E048-8E2D-79F8F8D668E8}">
      <dsp:nvSpPr>
        <dsp:cNvPr id="0" name=""/>
        <dsp:cNvSpPr/>
      </dsp:nvSpPr>
      <dsp:spPr>
        <a:xfrm>
          <a:off x="12830215" y="4501979"/>
          <a:ext cx="935051" cy="935051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3040601" y="4501979"/>
        <a:ext cx="514279" cy="7036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866D7-A2AE-4920-9541-DA32B9860B22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C7861-D47B-4D5D-A57B-5801853CFD1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4902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3435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518F2-FCB2-D915-8DDC-F2E53D2D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09F81-8057-9CBF-19F7-72167E78C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50883-DDE2-8003-F482-933CF6F24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72015-A051-9B6C-D726-6F08E52FE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3563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221E0-97D8-DCA7-0E6C-A7A9AF2E7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5B5B0-C045-67EF-F009-829946187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1CBCB-2ED7-44C6-1112-D8E4ECA3A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FF608-2CD5-4E0C-5BE6-50877872F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6225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D329F-24BA-BE49-87A8-A439F33D49D9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11930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F2E96-9C7B-9F06-C8A4-869FBDBE6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4E2FA-B691-7CC7-C6E4-6B579A72D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007FE-D429-8099-B3F5-FF3756BD9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FCB9F-F83B-83E9-1B9B-5A6FA2535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4988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EE99A-63F9-66CA-5EC5-73F493655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0384D-DFA7-5954-1D7A-5DF5AC099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A84FC-14B3-0557-B814-5E6E3832A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>
                <a:ea typeface="Calibri"/>
                <a:cs typeface="Calibri"/>
              </a:rPr>
              <a:t>Leg </a:t>
            </a:r>
            <a:r>
              <a:rPr lang="en-NL" err="1">
                <a:ea typeface="Calibri"/>
                <a:cs typeface="Calibri"/>
              </a:rPr>
              <a:t>uit</a:t>
            </a:r>
            <a:r>
              <a:rPr lang="en-NL">
                <a:ea typeface="Calibri"/>
                <a:cs typeface="Calibri"/>
              </a:rPr>
              <a:t> </a:t>
            </a:r>
            <a:r>
              <a:rPr lang="en-NL" err="1">
                <a:ea typeface="Calibri"/>
                <a:cs typeface="Calibri"/>
              </a:rPr>
              <a:t>dat</a:t>
            </a:r>
            <a:r>
              <a:rPr lang="en-NL">
                <a:ea typeface="Calibri"/>
                <a:cs typeface="Calibri"/>
              </a:rPr>
              <a:t> we in deze sessie </a:t>
            </a:r>
            <a:r>
              <a:rPr lang="en-NL" err="1">
                <a:ea typeface="Calibri"/>
                <a:cs typeface="Calibri"/>
              </a:rPr>
              <a:t>drie</a:t>
            </a:r>
            <a:r>
              <a:rPr lang="en-NL">
                <a:ea typeface="Calibri"/>
                <a:cs typeface="Calibri"/>
              </a:rPr>
              <a:t> </a:t>
            </a:r>
            <a:r>
              <a:rPr lang="en-NL" err="1">
                <a:ea typeface="Calibri"/>
                <a:cs typeface="Calibri"/>
              </a:rPr>
              <a:t>leeruitkomsten</a:t>
            </a:r>
            <a:r>
              <a:rPr lang="en-NL">
                <a:ea typeface="Calibri"/>
                <a:cs typeface="Calibri"/>
              </a:rPr>
              <a:t> </a:t>
            </a:r>
            <a:r>
              <a:rPr lang="en-NL" err="1">
                <a:ea typeface="Calibri"/>
                <a:cs typeface="Calibri"/>
              </a:rPr>
              <a:t>behandelen</a:t>
            </a:r>
            <a:r>
              <a:rPr lang="en-NL">
                <a:ea typeface="Calibri"/>
                <a:cs typeface="Calibri"/>
              </a:rPr>
              <a:t>. Practicum </a:t>
            </a:r>
            <a:r>
              <a:rPr lang="en-NL" err="1">
                <a:ea typeface="Calibri"/>
                <a:cs typeface="Calibri"/>
              </a:rPr>
              <a:t>als</a:t>
            </a:r>
            <a:r>
              <a:rPr lang="en-NL">
                <a:ea typeface="Calibri"/>
                <a:cs typeface="Calibri"/>
              </a:rPr>
              <a:t> bewijsmateriaal.</a:t>
            </a:r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AA81B-2B92-5F68-9DE5-1DDF02290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0628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We </a:t>
            </a:r>
            <a:r>
              <a:rPr lang="en-US" err="1">
                <a:ea typeface="Calibri"/>
                <a:cs typeface="Calibri"/>
              </a:rPr>
              <a:t>hanteren</a:t>
            </a:r>
            <a:r>
              <a:rPr lang="en-US">
                <a:ea typeface="Calibri"/>
                <a:cs typeface="Calibri"/>
              </a:rPr>
              <a:t> CRISPML(Q). </a:t>
            </a:r>
          </a:p>
          <a:p>
            <a:r>
              <a:rPr lang="en-US" err="1">
                <a:ea typeface="Calibri"/>
                <a:cs typeface="Calibri"/>
              </a:rPr>
              <a:t>Zie</a:t>
            </a:r>
            <a:r>
              <a:rPr lang="en-US">
                <a:ea typeface="Calibri"/>
                <a:cs typeface="Calibri"/>
              </a:rPr>
              <a:t> hoe business &amp; data understanding </a:t>
            </a:r>
            <a:r>
              <a:rPr lang="en-US" err="1">
                <a:ea typeface="Calibri"/>
                <a:cs typeface="Calibri"/>
              </a:rPr>
              <a:t>samenvallen</a:t>
            </a:r>
            <a:r>
              <a:rPr lang="en-US">
                <a:ea typeface="Calibri"/>
                <a:cs typeface="Calibri"/>
              </a:rPr>
              <a:t>. Leg </a:t>
            </a:r>
            <a:r>
              <a:rPr lang="en-US" err="1">
                <a:ea typeface="Calibri"/>
                <a:cs typeface="Calibri"/>
              </a:rPr>
              <a:t>uit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waarom</a:t>
            </a:r>
            <a:r>
              <a:rPr lang="en-US">
                <a:ea typeface="Calibri"/>
                <a:cs typeface="Calibri"/>
              </a:rPr>
              <a:t> (requirements </a:t>
            </a:r>
            <a:r>
              <a:rPr lang="en-US" err="1">
                <a:ea typeface="Calibri"/>
                <a:cs typeface="Calibri"/>
              </a:rPr>
              <a:t>naar</a:t>
            </a:r>
            <a:r>
              <a:rPr lang="en-US">
                <a:ea typeface="Calibri"/>
                <a:cs typeface="Calibri"/>
              </a:rPr>
              <a:t> data </a:t>
            </a:r>
            <a:r>
              <a:rPr lang="en-US" err="1">
                <a:ea typeface="Calibri"/>
                <a:cs typeface="Calibri"/>
              </a:rPr>
              <a:t>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andersom</a:t>
            </a:r>
            <a:r>
              <a:rPr lang="en-US">
                <a:ea typeface="Calibri"/>
                <a:cs typeface="Calibri"/>
              </a:rPr>
              <a:t>)</a:t>
            </a:r>
          </a:p>
          <a:p>
            <a:r>
              <a:rPr lang="en-US" err="1">
                <a:ea typeface="Calibri"/>
                <a:cs typeface="Calibri"/>
              </a:rPr>
              <a:t>Nadruk</a:t>
            </a:r>
            <a:r>
              <a:rPr lang="en-US">
                <a:ea typeface="Calibri"/>
                <a:cs typeface="Calibri"/>
              </a:rPr>
              <a:t> op </a:t>
            </a:r>
            <a:r>
              <a:rPr lang="en-US" err="1">
                <a:ea typeface="Calibri"/>
                <a:cs typeface="Calibri"/>
              </a:rPr>
              <a:t>goede</a:t>
            </a:r>
            <a:r>
              <a:rPr lang="en-US">
                <a:ea typeface="Calibri"/>
                <a:cs typeface="Calibri"/>
              </a:rPr>
              <a:t> exploration -&gt; minder </a:t>
            </a:r>
            <a:r>
              <a:rPr lang="en-US" err="1">
                <a:ea typeface="Calibri"/>
                <a:cs typeface="Calibri"/>
              </a:rPr>
              <a:t>problemen</a:t>
            </a:r>
            <a:r>
              <a:rPr lang="en-US">
                <a:ea typeface="Calibri"/>
                <a:cs typeface="Calibri"/>
              </a:rPr>
              <a:t> later</a:t>
            </a:r>
          </a:p>
          <a:p>
            <a:r>
              <a:rPr lang="en-US" err="1">
                <a:ea typeface="Calibri"/>
                <a:cs typeface="Calibri"/>
              </a:rPr>
              <a:t>Geef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alvast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kleine</a:t>
            </a:r>
            <a:r>
              <a:rPr lang="en-US">
                <a:ea typeface="Calibri"/>
                <a:cs typeface="Calibri"/>
              </a:rPr>
              <a:t> hint </a:t>
            </a:r>
            <a:r>
              <a:rPr lang="en-US" err="1">
                <a:ea typeface="Calibri"/>
                <a:cs typeface="Calibri"/>
              </a:rPr>
              <a:t>dat</a:t>
            </a:r>
            <a:r>
              <a:rPr lang="en-US">
                <a:ea typeface="Calibri"/>
                <a:cs typeface="Calibri"/>
              </a:rPr>
              <a:t> het </a:t>
            </a:r>
            <a:r>
              <a:rPr lang="en-US" err="1">
                <a:ea typeface="Calibri"/>
                <a:cs typeface="Calibri"/>
              </a:rPr>
              <a:t>niet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alleen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gaat</a:t>
            </a:r>
            <a:r>
              <a:rPr lang="en-US">
                <a:ea typeface="Calibri"/>
                <a:cs typeface="Calibri"/>
              </a:rPr>
              <a:t> om </a:t>
            </a:r>
            <a:r>
              <a:rPr lang="en-US" err="1">
                <a:ea typeface="Calibri"/>
                <a:cs typeface="Calibri"/>
              </a:rPr>
              <a:t>technische</a:t>
            </a:r>
            <a:r>
              <a:rPr lang="en-US">
                <a:ea typeface="Calibri"/>
                <a:cs typeface="Calibri"/>
              </a:rPr>
              <a:t> accuracy.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1870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608D1-4B06-2540-7597-C68750BB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77DC93F-E390-0489-118C-959350385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2BCD6E3-C1F9-A6DB-4885-2E1A0B6DF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Data Provenance -&gt; </a:t>
            </a:r>
            <a:r>
              <a:rPr lang="en-US" err="1">
                <a:ea typeface="Calibri"/>
                <a:cs typeface="Calibri"/>
              </a:rPr>
              <a:t>herkomst</a:t>
            </a:r>
            <a:r>
              <a:rPr lang="en-US">
                <a:ea typeface="Calibri"/>
                <a:cs typeface="Calibri"/>
              </a:rPr>
              <a:t> van data. Bron, hoe </a:t>
            </a:r>
            <a:r>
              <a:rPr lang="en-US" err="1">
                <a:ea typeface="Calibri"/>
                <a:cs typeface="Calibri"/>
              </a:rPr>
              <a:t>verzameld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eventuele</a:t>
            </a:r>
            <a:r>
              <a:rPr lang="en-US">
                <a:ea typeface="Calibri"/>
                <a:cs typeface="Calibri"/>
              </a:rPr>
              <a:t> biases al van </a:t>
            </a:r>
            <a:r>
              <a:rPr lang="en-US" err="1">
                <a:ea typeface="Calibri"/>
                <a:cs typeface="Calibri"/>
              </a:rPr>
              <a:t>tevoren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Data Description -&gt; Is er </a:t>
            </a:r>
            <a:r>
              <a:rPr lang="en-US" err="1">
                <a:ea typeface="Calibri"/>
                <a:cs typeface="Calibri"/>
              </a:rPr>
              <a:t>een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beschrijving</a:t>
            </a:r>
            <a:r>
              <a:rPr lang="en-US">
                <a:ea typeface="Calibri"/>
                <a:cs typeface="Calibri"/>
              </a:rPr>
              <a:t>? </a:t>
            </a:r>
            <a:r>
              <a:rPr lang="en-US" err="1">
                <a:ea typeface="Calibri"/>
                <a:cs typeface="Calibri"/>
              </a:rPr>
              <a:t>Grootte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inhoud</a:t>
            </a:r>
            <a:r>
              <a:rPr lang="en-US">
                <a:ea typeface="Calibri"/>
                <a:cs typeface="Calibri"/>
              </a:rPr>
              <a:t>, labeling format (continues vs age groups)</a:t>
            </a:r>
          </a:p>
          <a:p>
            <a:r>
              <a:rPr lang="en-US">
                <a:ea typeface="Calibri"/>
                <a:cs typeface="Calibri"/>
              </a:rPr>
              <a:t>Leg </a:t>
            </a:r>
            <a:r>
              <a:rPr lang="en-US" err="1">
                <a:ea typeface="Calibri"/>
                <a:cs typeface="Calibri"/>
              </a:rPr>
              <a:t>uit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waar</a:t>
            </a:r>
            <a:r>
              <a:rPr lang="en-US">
                <a:ea typeface="Calibri"/>
                <a:cs typeface="Calibri"/>
              </a:rPr>
              <a:t> ze </a:t>
            </a:r>
            <a:r>
              <a:rPr lang="en-US" err="1">
                <a:ea typeface="Calibri"/>
                <a:cs typeface="Calibri"/>
              </a:rPr>
              <a:t>wellicht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kunnen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beginnen</a:t>
            </a:r>
            <a:r>
              <a:rPr lang="en-US">
                <a:ea typeface="Calibri"/>
                <a:cs typeface="Calibri"/>
              </a:rPr>
              <a:t> met </a:t>
            </a:r>
            <a:r>
              <a:rPr lang="en-US" err="1">
                <a:ea typeface="Calibri"/>
                <a:cs typeface="Calibri"/>
              </a:rPr>
              <a:t>zoeken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F7809E1-8EE6-E8E4-938D-233569D83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825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3E4A-0CF4-A852-A39E-069C82A7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830D118-8787-B64B-5F03-07CDE672D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946C79B-D174-EAFF-E04B-DBA75EF52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Benadruk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dat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visualiseren</a:t>
            </a:r>
            <a:r>
              <a:rPr lang="en-US">
                <a:ea typeface="Calibri"/>
                <a:cs typeface="Calibri"/>
              </a:rPr>
              <a:t> van data super </a:t>
            </a:r>
            <a:r>
              <a:rPr lang="en-US" err="1">
                <a:ea typeface="Calibri"/>
                <a:cs typeface="Calibri"/>
              </a:rPr>
              <a:t>belangrijk</a:t>
            </a:r>
            <a:r>
              <a:rPr lang="en-US">
                <a:ea typeface="Calibri"/>
                <a:cs typeface="Calibri"/>
              </a:rPr>
              <a:t> is</a:t>
            </a:r>
          </a:p>
          <a:p>
            <a:r>
              <a:rPr lang="en-US">
                <a:ea typeface="Calibri"/>
                <a:cs typeface="Calibri"/>
              </a:rPr>
              <a:t>Leg </a:t>
            </a:r>
            <a:r>
              <a:rPr lang="en-US" err="1">
                <a:ea typeface="Calibri"/>
                <a:cs typeface="Calibri"/>
              </a:rPr>
              <a:t>distributies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uit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waarom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en</a:t>
            </a:r>
            <a:r>
              <a:rPr lang="en-US">
                <a:ea typeface="Calibri"/>
                <a:cs typeface="Calibri"/>
              </a:rPr>
              <a:t> hoe</a:t>
            </a:r>
          </a:p>
          <a:p>
            <a:r>
              <a:rPr lang="en-US">
                <a:ea typeface="Calibri"/>
                <a:cs typeface="Calibri"/>
              </a:rPr>
              <a:t>Leg </a:t>
            </a:r>
            <a:r>
              <a:rPr lang="en-US" err="1">
                <a:ea typeface="Calibri"/>
                <a:cs typeface="Calibri"/>
              </a:rPr>
              <a:t>technische</a:t>
            </a:r>
            <a:r>
              <a:rPr lang="en-US">
                <a:ea typeface="Calibri"/>
                <a:cs typeface="Calibri"/>
              </a:rPr>
              <a:t> details die </a:t>
            </a:r>
            <a:r>
              <a:rPr lang="en-US" err="1">
                <a:ea typeface="Calibri"/>
                <a:cs typeface="Calibri"/>
              </a:rPr>
              <a:t>moeten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worden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gecheckt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uit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Hint </a:t>
            </a:r>
            <a:r>
              <a:rPr lang="en-US" err="1">
                <a:ea typeface="Calibri"/>
                <a:cs typeface="Calibri"/>
              </a:rPr>
              <a:t>naar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volgende</a:t>
            </a:r>
            <a:r>
              <a:rPr lang="en-US">
                <a:ea typeface="Calibri"/>
                <a:cs typeface="Calibri"/>
              </a:rPr>
              <a:t> slide met de </a:t>
            </a:r>
            <a:r>
              <a:rPr lang="en-US" err="1">
                <a:ea typeface="Calibri"/>
                <a:cs typeface="Calibri"/>
              </a:rPr>
              <a:t>vraag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A11F833-5345-E931-8ADD-1244B3302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76844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34BA7-8D49-C455-927D-4F2D6558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9CD81D4-F378-3AD2-CBC8-70076089A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0EF6200-6216-5162-38E3-2203E2957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Leg </a:t>
            </a:r>
            <a:r>
              <a:rPr lang="en-US" err="1">
                <a:ea typeface="Calibri"/>
                <a:cs typeface="Calibri"/>
              </a:rPr>
              <a:t>uit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dat</a:t>
            </a:r>
            <a:r>
              <a:rPr lang="en-US">
                <a:ea typeface="Calibri"/>
                <a:cs typeface="Calibri"/>
              </a:rPr>
              <a:t> het </a:t>
            </a:r>
            <a:r>
              <a:rPr lang="en-US" err="1">
                <a:ea typeface="Calibri"/>
                <a:cs typeface="Calibri"/>
              </a:rPr>
              <a:t>enige</a:t>
            </a:r>
            <a:r>
              <a:rPr lang="en-US">
                <a:ea typeface="Calibri"/>
                <a:cs typeface="Calibri"/>
              </a:rPr>
              <a:t> wat </a:t>
            </a:r>
            <a:r>
              <a:rPr lang="en-US" err="1">
                <a:ea typeface="Calibri"/>
                <a:cs typeface="Calibri"/>
              </a:rPr>
              <a:t>algoritmes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doen</a:t>
            </a:r>
            <a:r>
              <a:rPr lang="en-US">
                <a:ea typeface="Calibri"/>
                <a:cs typeface="Calibri"/>
              </a:rPr>
              <a:t> is </a:t>
            </a:r>
            <a:r>
              <a:rPr lang="en-US" err="1">
                <a:ea typeface="Calibri"/>
                <a:cs typeface="Calibri"/>
              </a:rPr>
              <a:t>een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foutmaat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minimaliseren</a:t>
            </a:r>
            <a:r>
              <a:rPr lang="en-US">
                <a:ea typeface="Calibri"/>
                <a:cs typeface="Calibri"/>
              </a:rPr>
              <a:t> met welk patroon dan </a:t>
            </a:r>
            <a:r>
              <a:rPr lang="en-US" err="1">
                <a:ea typeface="Calibri"/>
                <a:cs typeface="Calibri"/>
              </a:rPr>
              <a:t>ook</a:t>
            </a:r>
            <a:r>
              <a:rPr lang="en-US">
                <a:ea typeface="Calibri"/>
                <a:cs typeface="Calibri"/>
              </a:rPr>
              <a:t>.</a:t>
            </a: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3E812DA-D6AA-22DC-6351-24981201A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1122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1B8E-FD56-1C79-A0D2-C734BD632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D1C369B-A096-1394-22A8-13FBC215C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4C8DBF6-60B4-F839-5569-EBE5A2E2B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Geef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voorbeeld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adhv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afbeelding</a:t>
            </a:r>
          </a:p>
          <a:p>
            <a:r>
              <a:rPr lang="en-US" err="1">
                <a:ea typeface="Calibri"/>
                <a:cs typeface="Calibri"/>
              </a:rPr>
              <a:t>Ethniciteit</a:t>
            </a:r>
            <a:r>
              <a:rPr lang="en-US">
                <a:ea typeface="Calibri"/>
                <a:cs typeface="Calibri"/>
              </a:rPr>
              <a:t>? Welke </a:t>
            </a:r>
            <a:r>
              <a:rPr lang="en-US" err="1">
                <a:ea typeface="Calibri"/>
                <a:cs typeface="Calibri"/>
              </a:rPr>
              <a:t>vragen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moet</a:t>
            </a:r>
            <a:r>
              <a:rPr lang="en-US">
                <a:ea typeface="Calibri"/>
                <a:cs typeface="Calibri"/>
              </a:rPr>
              <a:t> je </a:t>
            </a:r>
            <a:r>
              <a:rPr lang="en-US" err="1">
                <a:ea typeface="Calibri"/>
                <a:cs typeface="Calibri"/>
              </a:rPr>
              <a:t>stellen</a:t>
            </a:r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Overige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mogelijke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klassen</a:t>
            </a:r>
            <a:r>
              <a:rPr lang="en-US">
                <a:ea typeface="Calibri"/>
                <a:cs typeface="Calibri"/>
              </a:rPr>
              <a:t>? 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CA0217F-FDB4-6141-F723-13BE0047E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015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1806D-F608-DC3C-A8A0-BC1C954A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E4D4C0D-A991-D743-CE1D-70B9933DA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0D60A2A-BAD7-DD4E-8ADF-F2FE27E39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Leg </a:t>
            </a:r>
            <a:r>
              <a:rPr lang="en-US" err="1">
                <a:ea typeface="Calibri"/>
                <a:cs typeface="Calibri"/>
              </a:rPr>
              <a:t>uit</a:t>
            </a:r>
            <a:r>
              <a:rPr lang="en-US">
                <a:ea typeface="Calibri"/>
                <a:cs typeface="Calibri"/>
              </a:rPr>
              <a:t> wat </a:t>
            </a:r>
            <a:r>
              <a:rPr lang="en-US" err="1">
                <a:ea typeface="Calibri"/>
                <a:cs typeface="Calibri"/>
              </a:rPr>
              <a:t>mogelijke</a:t>
            </a:r>
            <a:r>
              <a:rPr lang="en-US">
                <a:ea typeface="Calibri"/>
                <a:cs typeface="Calibri"/>
              </a:rPr>
              <a:t> feature engineering </a:t>
            </a:r>
            <a:r>
              <a:rPr lang="en-US" err="1">
                <a:ea typeface="Calibri"/>
                <a:cs typeface="Calibri"/>
              </a:rPr>
              <a:t>stappen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zijn</a:t>
            </a:r>
            <a:endParaRPr lang="nl-NL" err="1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927A25C-709A-FE7A-996D-A18FEA86B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5962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27EB8-DCED-6603-08AC-F3EB78A95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927E0A9-9F59-D571-05B6-95FD97566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3AE64B3-A750-E8AE-2C79-225F249C8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Leg </a:t>
            </a:r>
            <a:r>
              <a:rPr lang="en-US" err="1">
                <a:ea typeface="Calibri"/>
                <a:cs typeface="Calibri"/>
              </a:rPr>
              <a:t>nadruk</a:t>
            </a:r>
            <a:r>
              <a:rPr lang="en-US">
                <a:ea typeface="Calibri"/>
                <a:cs typeface="Calibri"/>
              </a:rPr>
              <a:t> op </a:t>
            </a:r>
            <a:r>
              <a:rPr lang="en-US" err="1">
                <a:ea typeface="Calibri"/>
                <a:cs typeface="Calibri"/>
              </a:rPr>
              <a:t>deze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onderwerpen</a:t>
            </a:r>
            <a:endParaRPr lang="nl-NL" err="1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F0CDE1A-7D4A-CA1F-CE5F-474A71120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9323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F02A1-C350-8DFE-3B9E-7D3B5387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A8B7B16-AB97-B22C-DCE7-1E05B0C75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5D3A3CE-21C7-169F-5226-33814FCC5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7336B88-0265-D26D-C9F4-130BD9B0F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7448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C7399-0E2E-5CF8-E4CE-370C1BF5F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1EEB7-7673-88A3-729E-170A750BB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364E9-BEB9-1707-37CF-73FE99C29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2D14F-EF9D-7FCA-80B4-A2567126F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9C7861-D47B-4D5D-A57B-5801853CFD19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6829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0679AC-B0FE-4F23-A551-2D1C4FD72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8AA50F6-A72F-490A-A0AB-C27DCA842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B30EDB0-517A-4465-A896-1ABB2E86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ADC017-1587-4961-AA24-BC2423E8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F3DB8EF-FF22-4707-B07E-6E4AA504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4815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C3D29E-C443-464F-BE38-B4F6F7DE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1091657-0554-4194-8ADC-ADFEEF969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616B139-490F-4506-B7F7-F3E6E7AC6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F260516-AB7B-4806-A061-B090C07C0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90B7BB9-5A98-4C98-A302-0BCEFD709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362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06E0D-4D66-4644-9BBA-AD6CFB18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55748B9-F55A-4022-9CD3-6C705E415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1EA724D-4148-4DCB-A7D2-371CE56DD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39EAF6E-C78B-4651-8396-6D601EEB2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77BE83F-16E9-4AF5-B0F4-6C6938EFB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0909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1EEE6B-DB60-46C1-ABB7-6CC58CCA7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09A1FA-E192-4369-93A4-DD3ACD6DA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8B28466-A28E-4D01-A130-F7D653BD9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CB3B08D-64F1-47A5-9DCB-6496BC6F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2B19199-1EDE-48CC-8599-6E72D7605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83961A2-A14D-4918-8200-A49E7B7A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9504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160E54-C4E0-4213-91C1-41A24C4EF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5D275E3-E999-4A32-8BE3-EC227607A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8ED68D3-C065-4A0E-B55B-EEB7BA3B3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F96C204-7DBB-4FD2-800A-9D6BA6047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3D28123-6B25-44B5-B592-BF670EC22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2A8260A-2C18-48B5-B254-55D2B4A1D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4C446985-7FC9-4019-9AF8-92AE2A6DA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6E2FAF5-D31A-4E79-91A9-7BCEB8F69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109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3A6AC4-4310-461E-B5F2-1B70F2FA4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C6901C9-9154-4FA1-B5E5-5E3DA450C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F23059E-02B3-4123-B4A1-3323A0B39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E476C2F-A498-4303-B657-74C7AFD2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613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AE1FB1C-0698-4C18-9D7F-3C30BECDD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E173A29-401C-4EF8-BB23-738B8E68A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7CD883E-51DA-4A92-9C5F-58996B08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721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656BFD-0230-4DEC-9CB3-1DFEAC34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122DB3A-29A7-4FBD-B293-1088174D9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04BFB63-1E0F-453A-A712-6CFD1F1CA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09EF745-ED98-4A7B-9468-A40342723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E14C4E1-5C13-4745-A758-C563E33D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BE04C01-8598-4D36-8C50-8069AD7C3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27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02B57B-3733-42EB-B269-86A00AC73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F63442E2-2FD1-4B17-8690-48375E021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15A750C-9EE0-4AF2-A2D5-81ED23049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801974E-08AE-4224-942F-BE4CA99C1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BF8E01F-2D42-4615-9495-57889099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B396215-66B6-45D1-8F25-5C99B5D2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8655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63533F-4133-48A2-9ACB-13AB505A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8AAC713-8C8A-45CF-8076-CE9058534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2208AAC-A553-434C-A89D-CCA5B879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F08E76A-9ACB-4EC4-BA98-778C7BD84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4AAEDEC-CC45-436E-956C-0190DDAF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653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41BAE33C-1F20-42F7-A2FB-76E80DD874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5E19924-5709-4798-B1CF-F386577E0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BBEBA22-6202-4275-9597-2E653E7D1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991827B-8873-449E-AA77-855499E5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9F8A5D9-A672-4EE6-99A2-30AA4E87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8129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E4963-4497-42D0-B6EB-5216F48A7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9" name="Tijdelijke aanduiding voor datum 16">
            <a:extLst>
              <a:ext uri="{FF2B5EF4-FFF2-40B4-BE49-F238E27FC236}">
                <a16:creationId xmlns:a16="http://schemas.microsoft.com/office/drawing/2014/main" id="{8B17E60D-3933-4653-B579-17F3B3444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10" name="Tijdelijke aanduiding voor voettekst 17">
            <a:extLst>
              <a:ext uri="{FF2B5EF4-FFF2-40B4-BE49-F238E27FC236}">
                <a16:creationId xmlns:a16="http://schemas.microsoft.com/office/drawing/2014/main" id="{C7D878D8-1C18-46BC-9E13-37420A2CC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Tijdelijke aanduiding voor dianummer 18">
            <a:extLst>
              <a:ext uri="{FF2B5EF4-FFF2-40B4-BE49-F238E27FC236}">
                <a16:creationId xmlns:a16="http://schemas.microsoft.com/office/drawing/2014/main" id="{9CFDC296-DC93-4F9E-85D0-9BA47CB68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3156" y="2198664"/>
            <a:ext cx="7772400" cy="1470025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3156" y="3872553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33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2C5795-7639-4AC6-A3E8-EF0EB4079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6" name="Tijdelijke aanduiding voor datum 16">
            <a:extLst>
              <a:ext uri="{FF2B5EF4-FFF2-40B4-BE49-F238E27FC236}">
                <a16:creationId xmlns:a16="http://schemas.microsoft.com/office/drawing/2014/main" id="{D5707A7B-1F76-4E2B-9E88-9FF05738A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7" name="Tijdelijke aanduiding voor voettekst 17">
            <a:extLst>
              <a:ext uri="{FF2B5EF4-FFF2-40B4-BE49-F238E27FC236}">
                <a16:creationId xmlns:a16="http://schemas.microsoft.com/office/drawing/2014/main" id="{47F065AE-B770-473A-84B0-B1423A689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jdelijke aanduiding voor dianummer 18">
            <a:extLst>
              <a:ext uri="{FF2B5EF4-FFF2-40B4-BE49-F238E27FC236}">
                <a16:creationId xmlns:a16="http://schemas.microsoft.com/office/drawing/2014/main" id="{CD8B13F8-C395-4748-9FB8-92701749E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28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7115" y="613244"/>
            <a:ext cx="14753770" cy="1143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7115" y="2812211"/>
            <a:ext cx="14753770" cy="653882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16">
            <a:extLst>
              <a:ext uri="{FF2B5EF4-FFF2-40B4-BE49-F238E27FC236}">
                <a16:creationId xmlns:a16="http://schemas.microsoft.com/office/drawing/2014/main" id="{EFAF89D8-BED2-4F2C-9449-AF0773260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8" name="Tijdelijke aanduiding voor voettekst 17">
            <a:extLst>
              <a:ext uri="{FF2B5EF4-FFF2-40B4-BE49-F238E27FC236}">
                <a16:creationId xmlns:a16="http://schemas.microsoft.com/office/drawing/2014/main" id="{7691100D-42CA-4BC1-A652-07E740701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38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Tijdelijke aanduiding voor datum 16">
            <a:extLst>
              <a:ext uri="{FF2B5EF4-FFF2-40B4-BE49-F238E27FC236}">
                <a16:creationId xmlns:a16="http://schemas.microsoft.com/office/drawing/2014/main" id="{A2586394-2A52-42F1-9C27-1A0297316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8" name="Tijdelijke aanduiding voor voettekst 17">
            <a:extLst>
              <a:ext uri="{FF2B5EF4-FFF2-40B4-BE49-F238E27FC236}">
                <a16:creationId xmlns:a16="http://schemas.microsoft.com/office/drawing/2014/main" id="{EF99CCE8-3297-434C-A5C3-A4643ACD8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ijdelijke aanduiding voor dianummer 18">
            <a:extLst>
              <a:ext uri="{FF2B5EF4-FFF2-40B4-BE49-F238E27FC236}">
                <a16:creationId xmlns:a16="http://schemas.microsoft.com/office/drawing/2014/main" id="{7392D59F-232B-4C98-8DEC-EC98F476C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288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16">
            <a:extLst>
              <a:ext uri="{FF2B5EF4-FFF2-40B4-BE49-F238E27FC236}">
                <a16:creationId xmlns:a16="http://schemas.microsoft.com/office/drawing/2014/main" id="{0623B477-0129-4319-8663-7273578EC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6" name="Tijdelijke aanduiding voor voettekst 17">
            <a:extLst>
              <a:ext uri="{FF2B5EF4-FFF2-40B4-BE49-F238E27FC236}">
                <a16:creationId xmlns:a16="http://schemas.microsoft.com/office/drawing/2014/main" id="{6C6B4C84-D0E1-4DCD-9CF2-4A68AF34D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jdelijke aanduiding voor dianummer 18">
            <a:extLst>
              <a:ext uri="{FF2B5EF4-FFF2-40B4-BE49-F238E27FC236}">
                <a16:creationId xmlns:a16="http://schemas.microsoft.com/office/drawing/2014/main" id="{133A8022-C05B-4D90-B8A3-934C162DE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22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4FF281-C14B-46CE-A281-AF88D9D6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6" name="Tijdelijke aanduiding voor datum 16">
            <a:extLst>
              <a:ext uri="{FF2B5EF4-FFF2-40B4-BE49-F238E27FC236}">
                <a16:creationId xmlns:a16="http://schemas.microsoft.com/office/drawing/2014/main" id="{B108B739-EE05-4249-BB05-11F2FF397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7" name="Tijdelijke aanduiding voor voettekst 17">
            <a:extLst>
              <a:ext uri="{FF2B5EF4-FFF2-40B4-BE49-F238E27FC236}">
                <a16:creationId xmlns:a16="http://schemas.microsoft.com/office/drawing/2014/main" id="{624AB83B-6726-4599-9ADE-5EFB739F5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jdelijke aanduiding voor dianummer 18">
            <a:extLst>
              <a:ext uri="{FF2B5EF4-FFF2-40B4-BE49-F238E27FC236}">
                <a16:creationId xmlns:a16="http://schemas.microsoft.com/office/drawing/2014/main" id="{932A8893-B3D2-49EF-A6A6-6251F612D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85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0096" y="2183743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46" y="218374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096" y="334579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16">
            <a:extLst>
              <a:ext uri="{FF2B5EF4-FFF2-40B4-BE49-F238E27FC236}">
                <a16:creationId xmlns:a16="http://schemas.microsoft.com/office/drawing/2014/main" id="{2CBB8214-EE54-4DA9-8791-9547AA976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9" name="Tijdelijke aanduiding voor voettekst 17">
            <a:extLst>
              <a:ext uri="{FF2B5EF4-FFF2-40B4-BE49-F238E27FC236}">
                <a16:creationId xmlns:a16="http://schemas.microsoft.com/office/drawing/2014/main" id="{F419648D-EA2E-417A-B028-B17B12012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jdelijke aanduiding voor dianummer 18">
            <a:extLst>
              <a:ext uri="{FF2B5EF4-FFF2-40B4-BE49-F238E27FC236}">
                <a16:creationId xmlns:a16="http://schemas.microsoft.com/office/drawing/2014/main" id="{570F02AE-541D-44DB-B149-7E36E57D9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500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16">
            <a:extLst>
              <a:ext uri="{FF2B5EF4-FFF2-40B4-BE49-F238E27FC236}">
                <a16:creationId xmlns:a16="http://schemas.microsoft.com/office/drawing/2014/main" id="{01C7C860-33C8-4A1D-8EDE-C4E92CBD1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8" name="Tijdelijke aanduiding voor voettekst 17">
            <a:extLst>
              <a:ext uri="{FF2B5EF4-FFF2-40B4-BE49-F238E27FC236}">
                <a16:creationId xmlns:a16="http://schemas.microsoft.com/office/drawing/2014/main" id="{3F97C9EB-DDB7-4530-8378-210474130F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ijdelijke aanduiding voor dianummer 18">
            <a:extLst>
              <a:ext uri="{FF2B5EF4-FFF2-40B4-BE49-F238E27FC236}">
                <a16:creationId xmlns:a16="http://schemas.microsoft.com/office/drawing/2014/main" id="{538E8399-F2B4-47C3-8A1A-5A950CE4D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141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39314" y="2217737"/>
            <a:ext cx="2057400" cy="5851525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67114" y="2217737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16">
            <a:extLst>
              <a:ext uri="{FF2B5EF4-FFF2-40B4-BE49-F238E27FC236}">
                <a16:creationId xmlns:a16="http://schemas.microsoft.com/office/drawing/2014/main" id="{1E75C35B-7103-4E7C-B68F-E3700F764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9/4/25</a:t>
            </a:fld>
            <a:endParaRPr lang="en-US"/>
          </a:p>
        </p:txBody>
      </p:sp>
      <p:sp>
        <p:nvSpPr>
          <p:cNvPr id="8" name="Tijdelijke aanduiding voor voettekst 17">
            <a:extLst>
              <a:ext uri="{FF2B5EF4-FFF2-40B4-BE49-F238E27FC236}">
                <a16:creationId xmlns:a16="http://schemas.microsoft.com/office/drawing/2014/main" id="{D91C1D01-85ED-4633-BA1B-8E9D1F8F1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ijdelijke aanduiding voor dianummer 18">
            <a:extLst>
              <a:ext uri="{FF2B5EF4-FFF2-40B4-BE49-F238E27FC236}">
                <a16:creationId xmlns:a16="http://schemas.microsoft.com/office/drawing/2014/main" id="{64C46C0C-FF4D-4B43-B3CD-705D67827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89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Image"/>
          <p:cNvSpPr>
            <a:spLocks noGrp="1"/>
          </p:cNvSpPr>
          <p:nvPr>
            <p:ph type="pic" idx="21"/>
          </p:nvPr>
        </p:nvSpPr>
        <p:spPr>
          <a:xfrm>
            <a:off x="1284203" y="0"/>
            <a:ext cx="15719598" cy="1048791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965579" y="9804797"/>
            <a:ext cx="349703" cy="358254"/>
          </a:xfrm>
          <a:prstGeom prst="rect">
            <a:avLst/>
          </a:prstGeom>
        </p:spPr>
        <p:txBody>
          <a:bodyPr lIns="71437" tIns="71437" rIns="71437" bIns="71437" anchor="t"/>
          <a:lstStyle>
            <a:lvl1pPr algn="ctr" defTabSz="616149">
              <a:defRPr sz="165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2787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E4963-4497-42D0-B6EB-5216F48A7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9" name="Tijdelijke aanduiding voor datum 16">
            <a:extLst>
              <a:ext uri="{FF2B5EF4-FFF2-40B4-BE49-F238E27FC236}">
                <a16:creationId xmlns:a16="http://schemas.microsoft.com/office/drawing/2014/main" id="{8B17E60D-3933-4653-B579-17F3B3444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4AEAD-C5A2-4095-96B7-5E0090DEBB18}" type="datetime1">
              <a:rPr lang="nl-NL" smtClean="0"/>
              <a:t>04-09-2025</a:t>
            </a:fld>
            <a:endParaRPr lang="nl-NL"/>
          </a:p>
        </p:txBody>
      </p:sp>
      <p:sp>
        <p:nvSpPr>
          <p:cNvPr id="10" name="Tijdelijke aanduiding voor voettekst 17">
            <a:extLst>
              <a:ext uri="{FF2B5EF4-FFF2-40B4-BE49-F238E27FC236}">
                <a16:creationId xmlns:a16="http://schemas.microsoft.com/office/drawing/2014/main" id="{C7D878D8-1C18-46BC-9E13-37420A2CC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11" name="Tijdelijke aanduiding voor dianummer 18">
            <a:extLst>
              <a:ext uri="{FF2B5EF4-FFF2-40B4-BE49-F238E27FC236}">
                <a16:creationId xmlns:a16="http://schemas.microsoft.com/office/drawing/2014/main" id="{9CFDC296-DC93-4F9E-85D0-9BA47CB68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151CB-D1A8-4D0A-9E05-C63F4AC4C72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2420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3156" y="2198664"/>
            <a:ext cx="7772400" cy="1470025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3156" y="3872553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64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2C5795-7639-4AC6-A3E8-EF0EB4079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6" name="Tijdelijke aanduiding voor datum 16">
            <a:extLst>
              <a:ext uri="{FF2B5EF4-FFF2-40B4-BE49-F238E27FC236}">
                <a16:creationId xmlns:a16="http://schemas.microsoft.com/office/drawing/2014/main" id="{D5707A7B-1F76-4E2B-9E88-9FF05738A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4AEAD-C5A2-4095-96B7-5E0090DEBB18}" type="datetime1">
              <a:rPr lang="nl-NL" smtClean="0"/>
              <a:t>04-09-2025</a:t>
            </a:fld>
            <a:endParaRPr lang="nl-NL"/>
          </a:p>
        </p:txBody>
      </p:sp>
      <p:sp>
        <p:nvSpPr>
          <p:cNvPr id="7" name="Tijdelijke aanduiding voor voettekst 17">
            <a:extLst>
              <a:ext uri="{FF2B5EF4-FFF2-40B4-BE49-F238E27FC236}">
                <a16:creationId xmlns:a16="http://schemas.microsoft.com/office/drawing/2014/main" id="{47F065AE-B770-473A-84B0-B1423A689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18">
            <a:extLst>
              <a:ext uri="{FF2B5EF4-FFF2-40B4-BE49-F238E27FC236}">
                <a16:creationId xmlns:a16="http://schemas.microsoft.com/office/drawing/2014/main" id="{CD8B13F8-C395-4748-9FB8-92701749E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151CB-D1A8-4D0A-9E05-C63F4AC4C72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629040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16">
            <a:extLst>
              <a:ext uri="{FF2B5EF4-FFF2-40B4-BE49-F238E27FC236}">
                <a16:creationId xmlns:a16="http://schemas.microsoft.com/office/drawing/2014/main" id="{EFAF89D8-BED2-4F2C-9449-AF0773260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4AEAD-C5A2-4095-96B7-5E0090DEBB18}" type="datetime1">
              <a:rPr lang="nl-NL" smtClean="0"/>
              <a:t>04-09-2025</a:t>
            </a:fld>
            <a:endParaRPr lang="nl-NL"/>
          </a:p>
        </p:txBody>
      </p:sp>
      <p:sp>
        <p:nvSpPr>
          <p:cNvPr id="8" name="Tijdelijke aanduiding voor voettekst 17">
            <a:extLst>
              <a:ext uri="{FF2B5EF4-FFF2-40B4-BE49-F238E27FC236}">
                <a16:creationId xmlns:a16="http://schemas.microsoft.com/office/drawing/2014/main" id="{7691100D-42CA-4BC1-A652-07E740701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Tijdelijke aanduiding voor dianummer 18">
            <a:extLst>
              <a:ext uri="{FF2B5EF4-FFF2-40B4-BE49-F238E27FC236}">
                <a16:creationId xmlns:a16="http://schemas.microsoft.com/office/drawing/2014/main" id="{81309641-B551-4644-8374-69B0A24FC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151CB-D1A8-4D0A-9E05-C63F4AC4C72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38136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Tijdelijke aanduiding voor datum 16">
            <a:extLst>
              <a:ext uri="{FF2B5EF4-FFF2-40B4-BE49-F238E27FC236}">
                <a16:creationId xmlns:a16="http://schemas.microsoft.com/office/drawing/2014/main" id="{A2586394-2A52-42F1-9C27-1A0297316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4AEAD-C5A2-4095-96B7-5E0090DEBB18}" type="datetime1">
              <a:rPr lang="nl-NL" smtClean="0"/>
              <a:t>04-09-2025</a:t>
            </a:fld>
            <a:endParaRPr lang="nl-NL"/>
          </a:p>
        </p:txBody>
      </p:sp>
      <p:sp>
        <p:nvSpPr>
          <p:cNvPr id="8" name="Tijdelijke aanduiding voor voettekst 17">
            <a:extLst>
              <a:ext uri="{FF2B5EF4-FFF2-40B4-BE49-F238E27FC236}">
                <a16:creationId xmlns:a16="http://schemas.microsoft.com/office/drawing/2014/main" id="{EF99CCE8-3297-434C-A5C3-A4643ACD8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Tijdelijke aanduiding voor dianummer 18">
            <a:extLst>
              <a:ext uri="{FF2B5EF4-FFF2-40B4-BE49-F238E27FC236}">
                <a16:creationId xmlns:a16="http://schemas.microsoft.com/office/drawing/2014/main" id="{7392D59F-232B-4C98-8DEC-EC98F476C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151CB-D1A8-4D0A-9E05-C63F4AC4C72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16755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16">
            <a:extLst>
              <a:ext uri="{FF2B5EF4-FFF2-40B4-BE49-F238E27FC236}">
                <a16:creationId xmlns:a16="http://schemas.microsoft.com/office/drawing/2014/main" id="{0623B477-0129-4319-8663-7273578EC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4AEAD-C5A2-4095-96B7-5E0090DEBB18}" type="datetime1">
              <a:rPr lang="nl-NL" smtClean="0"/>
              <a:t>04-09-2025</a:t>
            </a:fld>
            <a:endParaRPr lang="nl-NL"/>
          </a:p>
        </p:txBody>
      </p:sp>
      <p:sp>
        <p:nvSpPr>
          <p:cNvPr id="6" name="Tijdelijke aanduiding voor voettekst 17">
            <a:extLst>
              <a:ext uri="{FF2B5EF4-FFF2-40B4-BE49-F238E27FC236}">
                <a16:creationId xmlns:a16="http://schemas.microsoft.com/office/drawing/2014/main" id="{6C6B4C84-D0E1-4DCD-9CF2-4A68AF34D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7" name="Tijdelijke aanduiding voor dianummer 18">
            <a:extLst>
              <a:ext uri="{FF2B5EF4-FFF2-40B4-BE49-F238E27FC236}">
                <a16:creationId xmlns:a16="http://schemas.microsoft.com/office/drawing/2014/main" id="{133A8022-C05B-4D90-B8A3-934C162DE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151CB-D1A8-4D0A-9E05-C63F4AC4C72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3343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4FF281-C14B-46CE-A281-AF88D9D6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6" name="Tijdelijke aanduiding voor datum 16">
            <a:extLst>
              <a:ext uri="{FF2B5EF4-FFF2-40B4-BE49-F238E27FC236}">
                <a16:creationId xmlns:a16="http://schemas.microsoft.com/office/drawing/2014/main" id="{B108B739-EE05-4249-BB05-11F2FF397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4AEAD-C5A2-4095-96B7-5E0090DEBB18}" type="datetime1">
              <a:rPr lang="nl-NL" smtClean="0"/>
              <a:t>04-09-2025</a:t>
            </a:fld>
            <a:endParaRPr lang="nl-NL"/>
          </a:p>
        </p:txBody>
      </p:sp>
      <p:sp>
        <p:nvSpPr>
          <p:cNvPr id="7" name="Tijdelijke aanduiding voor voettekst 17">
            <a:extLst>
              <a:ext uri="{FF2B5EF4-FFF2-40B4-BE49-F238E27FC236}">
                <a16:creationId xmlns:a16="http://schemas.microsoft.com/office/drawing/2014/main" id="{624AB83B-6726-4599-9ADE-5EFB739F5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8" name="Tijdelijke aanduiding voor dianummer 18">
            <a:extLst>
              <a:ext uri="{FF2B5EF4-FFF2-40B4-BE49-F238E27FC236}">
                <a16:creationId xmlns:a16="http://schemas.microsoft.com/office/drawing/2014/main" id="{932A8893-B3D2-49EF-A6A6-6251F612D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151CB-D1A8-4D0A-9E05-C63F4AC4C72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58356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0096" y="2183743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7946" y="218374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096" y="334579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ijdelijke aanduiding voor datum 16">
            <a:extLst>
              <a:ext uri="{FF2B5EF4-FFF2-40B4-BE49-F238E27FC236}">
                <a16:creationId xmlns:a16="http://schemas.microsoft.com/office/drawing/2014/main" id="{2CBB8214-EE54-4DA9-8791-9547AA976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4AEAD-C5A2-4095-96B7-5E0090DEBB18}" type="datetime1">
              <a:rPr lang="nl-NL" smtClean="0"/>
              <a:t>04-09-2025</a:t>
            </a:fld>
            <a:endParaRPr lang="nl-NL"/>
          </a:p>
        </p:txBody>
      </p:sp>
      <p:sp>
        <p:nvSpPr>
          <p:cNvPr id="9" name="Tijdelijke aanduiding voor voettekst 17">
            <a:extLst>
              <a:ext uri="{FF2B5EF4-FFF2-40B4-BE49-F238E27FC236}">
                <a16:creationId xmlns:a16="http://schemas.microsoft.com/office/drawing/2014/main" id="{F419648D-EA2E-417A-B028-B17B12012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10" name="Tijdelijke aanduiding voor dianummer 18">
            <a:extLst>
              <a:ext uri="{FF2B5EF4-FFF2-40B4-BE49-F238E27FC236}">
                <a16:creationId xmlns:a16="http://schemas.microsoft.com/office/drawing/2014/main" id="{570F02AE-541D-44DB-B149-7E36E57D9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151CB-D1A8-4D0A-9E05-C63F4AC4C72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63889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16">
            <a:extLst>
              <a:ext uri="{FF2B5EF4-FFF2-40B4-BE49-F238E27FC236}">
                <a16:creationId xmlns:a16="http://schemas.microsoft.com/office/drawing/2014/main" id="{01C7C860-33C8-4A1D-8EDE-C4E92CBD1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4AEAD-C5A2-4095-96B7-5E0090DEBB18}" type="datetime1">
              <a:rPr lang="nl-NL" smtClean="0"/>
              <a:t>04-09-2025</a:t>
            </a:fld>
            <a:endParaRPr lang="nl-NL"/>
          </a:p>
        </p:txBody>
      </p:sp>
      <p:sp>
        <p:nvSpPr>
          <p:cNvPr id="8" name="Tijdelijke aanduiding voor voettekst 17">
            <a:extLst>
              <a:ext uri="{FF2B5EF4-FFF2-40B4-BE49-F238E27FC236}">
                <a16:creationId xmlns:a16="http://schemas.microsoft.com/office/drawing/2014/main" id="{3F97C9EB-DDB7-4530-8378-210474130F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Tijdelijke aanduiding voor dianummer 18">
            <a:extLst>
              <a:ext uri="{FF2B5EF4-FFF2-40B4-BE49-F238E27FC236}">
                <a16:creationId xmlns:a16="http://schemas.microsoft.com/office/drawing/2014/main" id="{538E8399-F2B4-47C3-8A1A-5A950CE4D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151CB-D1A8-4D0A-9E05-C63F4AC4C72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24027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39314" y="2217737"/>
            <a:ext cx="2057400" cy="5851525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67114" y="2217737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16">
            <a:extLst>
              <a:ext uri="{FF2B5EF4-FFF2-40B4-BE49-F238E27FC236}">
                <a16:creationId xmlns:a16="http://schemas.microsoft.com/office/drawing/2014/main" id="{1E75C35B-7103-4E7C-B68F-E3700F764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4AEAD-C5A2-4095-96B7-5E0090DEBB18}" type="datetime1">
              <a:rPr lang="nl-NL" smtClean="0"/>
              <a:t>04-09-2025</a:t>
            </a:fld>
            <a:endParaRPr lang="nl-NL"/>
          </a:p>
        </p:txBody>
      </p:sp>
      <p:sp>
        <p:nvSpPr>
          <p:cNvPr id="8" name="Tijdelijke aanduiding voor voettekst 17">
            <a:extLst>
              <a:ext uri="{FF2B5EF4-FFF2-40B4-BE49-F238E27FC236}">
                <a16:creationId xmlns:a16="http://schemas.microsoft.com/office/drawing/2014/main" id="{D91C1D01-85ED-4633-BA1B-8E9D1F8F1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9" name="Tijdelijke aanduiding voor dianummer 18">
            <a:extLst>
              <a:ext uri="{FF2B5EF4-FFF2-40B4-BE49-F238E27FC236}">
                <a16:creationId xmlns:a16="http://schemas.microsoft.com/office/drawing/2014/main" id="{64C46C0C-FF4D-4B43-B3CD-705D67827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151CB-D1A8-4D0A-9E05-C63F4AC4C72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29587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90545-F7F9-4C9C-875A-A3E9710EB13F}" type="datetime1">
              <a:rPr lang="nl-NL" smtClean="0"/>
              <a:t>04-09-2025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256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C73-69F2-4DEF-90FD-9A8BE345BDFF}" type="datetime1">
              <a:rPr lang="nl-NL" smtClean="0"/>
              <a:t>04-09-2025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307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CA54-B481-45B6-B16F-999DBF427DD5}" type="datetime1">
              <a:rPr lang="nl-NL" smtClean="0"/>
              <a:t>04-09-2025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209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06AC3-BF23-42CF-9FD0-C3FE78707ADE}" type="datetime1">
              <a:rPr lang="nl-NL" smtClean="0"/>
              <a:t>04-09-2025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585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33BC-0881-4F32-9D60-82765FC53ED4}" type="datetime1">
              <a:rPr lang="nl-NL" smtClean="0"/>
              <a:t>04-09-2025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35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CAD3D-CBB4-48B4-ACD9-92A5DCDF68B4}" type="datetime1">
              <a:rPr lang="nl-NL" smtClean="0"/>
              <a:t>04-09-2025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610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BE8F0-CAC8-4DC7-BF2A-0DA19A8F4E27}" type="datetime1">
              <a:rPr lang="nl-NL" smtClean="0"/>
              <a:t>04-09-2025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984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4A2F-6A53-454F-A158-2DA6C7A23ACC}" type="datetime1">
              <a:rPr lang="nl-NL" smtClean="0"/>
              <a:t>04-09-2025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52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8ECF-F3CF-4DA0-AC4F-BA4B2E3F4276}" type="datetime1">
              <a:rPr lang="nl-NL" smtClean="0"/>
              <a:t>04-09-2025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820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97F1-9198-4C45-BFEF-758113D15179}" type="datetime1">
              <a:rPr lang="nl-NL" smtClean="0"/>
              <a:t>04-09-2025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817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CDA80-408C-49FC-9652-46070BD52A49}" type="datetime1">
              <a:rPr lang="nl-NL" smtClean="0"/>
              <a:t>04-09-2025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1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E53033F-9C4F-4952-9127-086D834C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A230540-3B6D-4978-BBFA-C429C8DD1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7CE7C23-E2E9-4049-823B-25938853E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B2B0B4-2189-43D1-A56C-204604A70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C020A3B-6CD4-4FBE-A234-01AF4F76F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713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7115" y="2204905"/>
            <a:ext cx="1475377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7115" y="3530467"/>
            <a:ext cx="1475377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754F4F0-4630-4370-BB53-473ECFAF52E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9841452" y="5472640"/>
            <a:ext cx="8609620" cy="4845600"/>
          </a:xfrm>
          <a:prstGeom prst="rect">
            <a:avLst/>
          </a:prstGeom>
        </p:spPr>
      </p:pic>
      <p:grpSp>
        <p:nvGrpSpPr>
          <p:cNvPr id="10" name="Group 6">
            <a:extLst>
              <a:ext uri="{FF2B5EF4-FFF2-40B4-BE49-F238E27FC236}">
                <a16:creationId xmlns:a16="http://schemas.microsoft.com/office/drawing/2014/main" id="{DCFF68A6-1549-440E-A46C-F85D898A1B3F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-139751" y="305003"/>
            <a:ext cx="2036336" cy="1763467"/>
            <a:chOff x="0" y="0"/>
            <a:chExt cx="6350000" cy="5499100"/>
          </a:xfrm>
          <a:solidFill>
            <a:srgbClr val="F08026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559365F-D040-4015-8B0B-41E4D3EFD644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B117D317-8AAD-4CE8-B72F-6E29DB340D35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10200" y="1764038"/>
            <a:ext cx="1018168" cy="881733"/>
            <a:chOff x="0" y="0"/>
            <a:chExt cx="6350000" cy="5499100"/>
          </a:xfrm>
          <a:solidFill>
            <a:srgbClr val="F08026"/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99226ACB-8669-4184-8E7D-9CCBC71D8313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</p:sp>
      </p:grp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D1794167-AFF7-40D8-AC7A-EC3319A9E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C7D56-5DD4-47E0-BED1-FF59E36D3764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18" name="Tijdelijke aanduiding voor voettekst 17">
            <a:extLst>
              <a:ext uri="{FF2B5EF4-FFF2-40B4-BE49-F238E27FC236}">
                <a16:creationId xmlns:a16="http://schemas.microsoft.com/office/drawing/2014/main" id="{6B578A60-73CD-42AA-A543-36C23C6AA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19" name="Tijdelijke aanduiding voor dianummer 18">
            <a:extLst>
              <a:ext uri="{FF2B5EF4-FFF2-40B4-BE49-F238E27FC236}">
                <a16:creationId xmlns:a16="http://schemas.microsoft.com/office/drawing/2014/main" id="{0B3E8A5A-149E-49B7-A31A-5DA70892D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871243" y="393379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B3C28-A156-4D14-B833-FF40BBC390F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029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3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7115" y="2204905"/>
            <a:ext cx="1475377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7115" y="3530467"/>
            <a:ext cx="1475377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grpSp>
        <p:nvGrpSpPr>
          <p:cNvPr id="10" name="Group 6">
            <a:extLst>
              <a:ext uri="{FF2B5EF4-FFF2-40B4-BE49-F238E27FC236}">
                <a16:creationId xmlns:a16="http://schemas.microsoft.com/office/drawing/2014/main" id="{DCFF68A6-1549-440E-A46C-F85D898A1B3F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-139751" y="305003"/>
            <a:ext cx="2036336" cy="1763467"/>
            <a:chOff x="0" y="0"/>
            <a:chExt cx="6350000" cy="5499100"/>
          </a:xfrm>
          <a:solidFill>
            <a:srgbClr val="F08026"/>
          </a:solidFill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559365F-D040-4015-8B0B-41E4D3EFD644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B117D317-8AAD-4CE8-B72F-6E29DB340D35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10200" y="1764038"/>
            <a:ext cx="1018168" cy="881733"/>
            <a:chOff x="0" y="0"/>
            <a:chExt cx="6350000" cy="5499100"/>
          </a:xfrm>
          <a:solidFill>
            <a:srgbClr val="F08026"/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99226ACB-8669-4184-8E7D-9CCBC71D8313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</p:sp>
      </p:grpSp>
      <p:sp>
        <p:nvSpPr>
          <p:cNvPr id="17" name="Tijdelijke aanduiding voor datum 16">
            <a:extLst>
              <a:ext uri="{FF2B5EF4-FFF2-40B4-BE49-F238E27FC236}">
                <a16:creationId xmlns:a16="http://schemas.microsoft.com/office/drawing/2014/main" id="{D1794167-AFF7-40D8-AC7A-EC3319A9E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4AEAD-C5A2-4095-96B7-5E0090DEBB18}" type="datetime1">
              <a:rPr lang="nl-NL" smtClean="0"/>
              <a:t>04-09-2025</a:t>
            </a:fld>
            <a:endParaRPr lang="nl-NL"/>
          </a:p>
        </p:txBody>
      </p:sp>
      <p:sp>
        <p:nvSpPr>
          <p:cNvPr id="18" name="Tijdelijke aanduiding voor voettekst 17">
            <a:extLst>
              <a:ext uri="{FF2B5EF4-FFF2-40B4-BE49-F238E27FC236}">
                <a16:creationId xmlns:a16="http://schemas.microsoft.com/office/drawing/2014/main" id="{6B578A60-73CD-42AA-A543-36C23C6AA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CC1143BB-2ACB-443C-8B40-107DCC05806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>
            <a:fillRect/>
          </a:stretch>
        </p:blipFill>
        <p:spPr>
          <a:xfrm>
            <a:off x="13569042" y="644776"/>
            <a:ext cx="4287779" cy="570897"/>
          </a:xfrm>
          <a:prstGeom prst="rect">
            <a:avLst/>
          </a:prstGeom>
        </p:spPr>
      </p:pic>
      <p:pic>
        <p:nvPicPr>
          <p:cNvPr id="15" name="Afbeelding 14" descr="Afbeelding met outdoor-object&#10;&#10;Automatisch gegenereerde beschrijving">
            <a:extLst>
              <a:ext uri="{FF2B5EF4-FFF2-40B4-BE49-F238E27FC236}">
                <a16:creationId xmlns:a16="http://schemas.microsoft.com/office/drawing/2014/main" id="{9344FB6D-9392-4B32-8F4D-DE19710CC7C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240213" y="-317154"/>
            <a:ext cx="13921526" cy="7835207"/>
          </a:xfrm>
          <a:prstGeom prst="rect">
            <a:avLst/>
          </a:prstGeom>
        </p:spPr>
      </p:pic>
      <p:grpSp>
        <p:nvGrpSpPr>
          <p:cNvPr id="16" name="Group 8">
            <a:extLst>
              <a:ext uri="{FF2B5EF4-FFF2-40B4-BE49-F238E27FC236}">
                <a16:creationId xmlns:a16="http://schemas.microsoft.com/office/drawing/2014/main" id="{B2EC7841-2193-4FCA-9635-F00DA28E9BEE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-64449" y="2274763"/>
            <a:ext cx="1018168" cy="881733"/>
            <a:chOff x="0" y="0"/>
            <a:chExt cx="6350000" cy="5499100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11F772F0-5FBD-4C00-B367-71A017EA41D8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</p:spTree>
    <p:extLst>
      <p:ext uri="{BB962C8B-B14F-4D97-AF65-F5344CB8AC3E}">
        <p14:creationId xmlns:p14="http://schemas.microsoft.com/office/powerpoint/2010/main" val="26401482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9256" y="22050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9256" y="35305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39256" y="828674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35B2F-E356-4455-A6FC-6AC4D18A3B8D}" type="datetime1">
              <a:rPr lang="nl-NL" smtClean="0"/>
              <a:t>04-09-2025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6256" y="828674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5256" y="828674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069FCD4-92BE-42F6-AFD0-BC5EB3E9016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9841452" y="5472640"/>
            <a:ext cx="8609620" cy="4845600"/>
          </a:xfrm>
          <a:prstGeom prst="rect">
            <a:avLst/>
          </a:prstGeom>
        </p:spPr>
      </p:pic>
      <p:grpSp>
        <p:nvGrpSpPr>
          <p:cNvPr id="8" name="Group 6">
            <a:extLst>
              <a:ext uri="{FF2B5EF4-FFF2-40B4-BE49-F238E27FC236}">
                <a16:creationId xmlns:a16="http://schemas.microsoft.com/office/drawing/2014/main" id="{010E2F56-E53F-4198-BE1E-C42EFBB1AC72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-139751" y="305003"/>
            <a:ext cx="2036336" cy="1763467"/>
            <a:chOff x="0" y="0"/>
            <a:chExt cx="6350000" cy="5499100"/>
          </a:xfrm>
          <a:solidFill>
            <a:srgbClr val="F08026"/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EDB50C14-F0B1-411C-B1C6-91E1DABB1901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39A6E5A-89AA-41DE-9C10-824455BEBA49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10200" y="1764038"/>
            <a:ext cx="1018168" cy="881733"/>
            <a:chOff x="0" y="0"/>
            <a:chExt cx="6350000" cy="5499100"/>
          </a:xfrm>
          <a:solidFill>
            <a:srgbClr val="F08026"/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01E1948-B3C1-4268-8F16-6712FC3E4E2F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</p:sp>
      </p:grpSp>
    </p:spTree>
    <p:extLst>
      <p:ext uri="{BB962C8B-B14F-4D97-AF65-F5344CB8AC3E}">
        <p14:creationId xmlns:p14="http://schemas.microsoft.com/office/powerpoint/2010/main" val="76102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0.png"/><Relationship Id="rId4" Type="http://schemas.openxmlformats.org/officeDocument/2006/relationships/hyperlink" Target="https://aligned.substack.com/p/what-is-alignmen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huggingface.co/papers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15.xml"/><Relationship Id="rId1" Type="http://schemas.openxmlformats.org/officeDocument/2006/relationships/video" Target="https://www.youtube.com/embed/8ZzN4klu6oY?start=1&amp;feature=oembed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deepface/" TargetMode="External"/><Relationship Id="rId2" Type="http://schemas.openxmlformats.org/officeDocument/2006/relationships/hyperlink" Target="https://pypi.org/project/mtcnn/" TargetMode="Externa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>
            <a:extLst>
              <a:ext uri="{FF2B5EF4-FFF2-40B4-BE49-F238E27FC236}">
                <a16:creationId xmlns:a16="http://schemas.microsoft.com/office/drawing/2014/main" id="{D10536DE-8659-4CAB-983C-08E9F5A501FD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-139751" y="305003"/>
            <a:ext cx="2036336" cy="1763467"/>
            <a:chOff x="0" y="0"/>
            <a:chExt cx="6350000" cy="5499100"/>
          </a:xfrm>
          <a:solidFill>
            <a:srgbClr val="F08026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622796A6-3120-446E-9273-0CB623EBBD87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4000D60D-6944-419F-A0B1-501F3FF2FA3F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10200" y="1764038"/>
            <a:ext cx="1018168" cy="881733"/>
            <a:chOff x="0" y="0"/>
            <a:chExt cx="6350000" cy="5499100"/>
          </a:xfrm>
          <a:solidFill>
            <a:srgbClr val="F08026"/>
          </a:solidFill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D23626C1-7015-46DB-89BB-790BA8A6152E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/>
            </a:p>
          </p:txBody>
        </p:sp>
      </p:grpSp>
      <p:sp>
        <p:nvSpPr>
          <p:cNvPr id="3" name="Titel 2">
            <a:extLst>
              <a:ext uri="{FF2B5EF4-FFF2-40B4-BE49-F238E27FC236}">
                <a16:creationId xmlns:a16="http://schemas.microsoft.com/office/drawing/2014/main" id="{BBF3CA7D-E18F-4D3C-989D-53F971C98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4955" y="5143500"/>
            <a:ext cx="8282207" cy="1470025"/>
          </a:xfrm>
        </p:spPr>
        <p:txBody>
          <a:bodyPr>
            <a:normAutofit fontScale="90000"/>
          </a:bodyPr>
          <a:lstStyle/>
          <a:p>
            <a:r>
              <a:rPr lang="en-GB" b="1">
                <a:solidFill>
                  <a:schemeClr val="bg1"/>
                </a:solidFill>
              </a:rPr>
              <a:t>Master Applied Artificial Intelligence</a:t>
            </a:r>
            <a:br>
              <a:rPr lang="en-GB" b="1">
                <a:solidFill>
                  <a:schemeClr val="bg1"/>
                </a:solidFill>
              </a:rPr>
            </a:br>
            <a:r>
              <a:rPr lang="en-GB" b="1">
                <a:solidFill>
                  <a:schemeClr val="bg1"/>
                </a:solidFill>
              </a:rPr>
              <a:t>Expert Workshops – Session 1</a:t>
            </a:r>
            <a:br>
              <a:rPr lang="en-GB" b="1">
                <a:solidFill>
                  <a:schemeClr val="bg1"/>
                </a:solidFill>
              </a:rPr>
            </a:br>
            <a:br>
              <a:rPr lang="en-GB" b="1">
                <a:solidFill>
                  <a:schemeClr val="bg1"/>
                </a:solidFill>
              </a:rPr>
            </a:br>
            <a:r>
              <a:rPr lang="en-GB">
                <a:solidFill>
                  <a:schemeClr val="bg1"/>
                </a:solidFill>
              </a:rPr>
              <a:t>Lecturers</a:t>
            </a:r>
            <a:br>
              <a:rPr lang="en-GB">
                <a:solidFill>
                  <a:schemeClr val="bg1"/>
                </a:solidFill>
              </a:rPr>
            </a:br>
            <a:r>
              <a:rPr lang="en-GB">
                <a:solidFill>
                  <a:schemeClr val="bg1"/>
                </a:solidFill>
              </a:rPr>
              <a:t>Michiel </a:t>
            </a:r>
            <a:r>
              <a:rPr lang="en-GB" err="1">
                <a:solidFill>
                  <a:schemeClr val="bg1"/>
                </a:solidFill>
              </a:rPr>
              <a:t>Bontenbal</a:t>
            </a:r>
            <a:r>
              <a:rPr lang="en-GB">
                <a:solidFill>
                  <a:schemeClr val="bg1"/>
                </a:solidFill>
              </a:rPr>
              <a:t>, MSc</a:t>
            </a:r>
            <a:br>
              <a:rPr lang="en-GB"/>
            </a:br>
            <a:r>
              <a:rPr lang="en-GB">
                <a:solidFill>
                  <a:schemeClr val="bg1"/>
                </a:solidFill>
              </a:rPr>
              <a:t>Rick van Kersbergen, MSc</a:t>
            </a:r>
            <a:endParaRPr lang="en-GB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1" name="Tijdelijke aanduiding voor afbeelding 3">
            <a:extLst>
              <a:ext uri="{FF2B5EF4-FFF2-40B4-BE49-F238E27FC236}">
                <a16:creationId xmlns:a16="http://schemas.microsoft.com/office/drawing/2014/main" id="{689F344E-B477-41B2-9384-2580FE1B63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" r="122"/>
          <a:stretch>
            <a:fillRect/>
          </a:stretch>
        </p:blipFill>
        <p:spPr>
          <a:xfrm>
            <a:off x="12117482" y="-221227"/>
            <a:ext cx="6822419" cy="147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420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C294-D9F9-0974-C87C-A6C0CA0A7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115" y="613244"/>
            <a:ext cx="14753770" cy="1143000"/>
          </a:xfrm>
        </p:spPr>
        <p:txBody>
          <a:bodyPr anchor="ctr">
            <a:normAutofit/>
          </a:bodyPr>
          <a:lstStyle/>
          <a:p>
            <a:r>
              <a:rPr lang="en-NL"/>
              <a:t>Agenda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67A2B49-222F-7642-296B-BDDA9D1F0F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95985"/>
              </p:ext>
            </p:extLst>
          </p:nvPr>
        </p:nvGraphicFramePr>
        <p:xfrm>
          <a:off x="1767115" y="2812211"/>
          <a:ext cx="14753770" cy="6538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2071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9A5F04-5384-D1E3-355D-72DAD673B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B6058E42-55B1-A617-CCCE-B474E0C0969F}"/>
              </a:ext>
            </a:extLst>
          </p:cNvPr>
          <p:cNvSpPr/>
          <p:nvPr/>
        </p:nvSpPr>
        <p:spPr>
          <a:xfrm>
            <a:off x="-2173" y="2263"/>
            <a:ext cx="18290896" cy="10282472"/>
          </a:xfrm>
          <a:prstGeom prst="rect">
            <a:avLst/>
          </a:prstGeom>
          <a:solidFill>
            <a:srgbClr val="98480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A4AFF308-D94C-6926-141C-D937739E3D53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-139751" y="305003"/>
            <a:ext cx="2036336" cy="1763467"/>
            <a:chOff x="0" y="0"/>
            <a:chExt cx="6350000" cy="5499100"/>
          </a:xfrm>
          <a:solidFill>
            <a:srgbClr val="F08026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E6D2E2CE-9E10-CDFA-F0CD-DFAE2327B420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30482EDC-73BB-1CE2-0247-3D3C58EDA617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10200" y="1764038"/>
            <a:ext cx="1018168" cy="881733"/>
            <a:chOff x="0" y="0"/>
            <a:chExt cx="6350000" cy="5499100"/>
          </a:xfrm>
          <a:solidFill>
            <a:srgbClr val="F08026"/>
          </a:solidFill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A3201CCC-2B0A-86E7-C589-6AF8086188FE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/>
            </a:p>
          </p:txBody>
        </p:sp>
      </p:grpSp>
      <p:pic>
        <p:nvPicPr>
          <p:cNvPr id="11" name="Tijdelijke aanduiding voor afbeelding 3">
            <a:extLst>
              <a:ext uri="{FF2B5EF4-FFF2-40B4-BE49-F238E27FC236}">
                <a16:creationId xmlns:a16="http://schemas.microsoft.com/office/drawing/2014/main" id="{818FE28E-51AB-EABB-3425-D4CF5A3350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" r="122"/>
          <a:stretch>
            <a:fillRect/>
          </a:stretch>
        </p:blipFill>
        <p:spPr>
          <a:xfrm>
            <a:off x="12117482" y="-221227"/>
            <a:ext cx="6822419" cy="1470024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395A4F3F-3330-F502-B433-E39786BF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429" y="4568397"/>
            <a:ext cx="14753770" cy="1143000"/>
          </a:xfrm>
        </p:spPr>
        <p:txBody>
          <a:bodyPr>
            <a:normAutofit/>
          </a:bodyPr>
          <a:lstStyle/>
          <a:p>
            <a:r>
              <a:rPr lang="nl-NL" err="1">
                <a:solidFill>
                  <a:schemeClr val="bg1"/>
                </a:solidFill>
                <a:ea typeface="Calibri"/>
                <a:cs typeface="Calibri"/>
              </a:rPr>
              <a:t>Introduction</a:t>
            </a:r>
            <a:r>
              <a:rPr lang="nl-NL">
                <a:solidFill>
                  <a:schemeClr val="bg1"/>
                </a:solidFill>
                <a:ea typeface="Calibri"/>
                <a:cs typeface="Calibri"/>
              </a:rPr>
              <a:t> Tech Workshop Curriculum</a:t>
            </a:r>
            <a:endParaRPr lang="nl-N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770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5022309D-50E3-8D93-FFF7-86D9197E3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299288"/>
              </p:ext>
            </p:extLst>
          </p:nvPr>
        </p:nvGraphicFramePr>
        <p:xfrm>
          <a:off x="2758965" y="2112579"/>
          <a:ext cx="13075196" cy="61552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84425">
                  <a:extLst>
                    <a:ext uri="{9D8B030D-6E8A-4147-A177-3AD203B41FA5}">
                      <a16:colId xmlns:a16="http://schemas.microsoft.com/office/drawing/2014/main" val="1804853067"/>
                    </a:ext>
                  </a:extLst>
                </a:gridCol>
                <a:gridCol w="2120301">
                  <a:extLst>
                    <a:ext uri="{9D8B030D-6E8A-4147-A177-3AD203B41FA5}">
                      <a16:colId xmlns:a16="http://schemas.microsoft.com/office/drawing/2014/main" val="2653575935"/>
                    </a:ext>
                  </a:extLst>
                </a:gridCol>
                <a:gridCol w="2461065">
                  <a:extLst>
                    <a:ext uri="{9D8B030D-6E8A-4147-A177-3AD203B41FA5}">
                      <a16:colId xmlns:a16="http://schemas.microsoft.com/office/drawing/2014/main" val="3690177318"/>
                    </a:ext>
                  </a:extLst>
                </a:gridCol>
                <a:gridCol w="7509405">
                  <a:extLst>
                    <a:ext uri="{9D8B030D-6E8A-4147-A177-3AD203B41FA5}">
                      <a16:colId xmlns:a16="http://schemas.microsoft.com/office/drawing/2014/main" val="1601123859"/>
                    </a:ext>
                  </a:extLst>
                </a:gridCol>
              </a:tblGrid>
              <a:tr h="73277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400" b="1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No.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90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400" b="1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Date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90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400" b="1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Lecturer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90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400" b="1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Subjects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90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499925"/>
                  </a:ext>
                </a:extLst>
              </a:tr>
              <a:tr h="73277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90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Thu 4 Sep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90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Rick + Michiel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90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AI assisted coding, Data exploration, Faces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90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368546"/>
                  </a:ext>
                </a:extLst>
              </a:tr>
              <a:tr h="73277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Thu 11 Sep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Michiel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Object Detection, Video, CNN advanced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650477"/>
                  </a:ext>
                </a:extLst>
              </a:tr>
              <a:tr h="73277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Thu 18 Sep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Rick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Evaluations, Build an app 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594380"/>
                  </a:ext>
                </a:extLst>
              </a:tr>
              <a:tr h="1025878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Thu 25 Sep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Michiel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Embeddings (SSL, CLIP, Search) &amp; </a:t>
                      </a:r>
                      <a:endParaRPr lang="nl-NL" sz="2800"/>
                    </a:p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preparation tech reviews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757666"/>
                  </a:ext>
                </a:extLst>
              </a:tr>
              <a:tr h="73277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Thu 2 Oct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Rick + Michiel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1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Tech reviews</a:t>
                      </a:r>
                      <a:endParaRPr lang="en-US" sz="2800" b="0" i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103931"/>
                  </a:ext>
                </a:extLst>
              </a:tr>
              <a:tr h="73277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Thu 9 Oct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Rick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nl-NL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ML </a:t>
                      </a:r>
                      <a:r>
                        <a:rPr lang="nl-NL" sz="2800" b="0" i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Ops</a:t>
                      </a:r>
                      <a:r>
                        <a:rPr lang="nl-NL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 + onderwerpen </a:t>
                      </a:r>
                      <a:r>
                        <a:rPr lang="nl-NL" sz="2800" b="0" i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obv</a:t>
                      </a:r>
                      <a:r>
                        <a:rPr lang="nl-NL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 vragen studenten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759367"/>
                  </a:ext>
                </a:extLst>
              </a:tr>
              <a:tr h="73277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Thu 16 Oct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Michiel</a:t>
                      </a: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Vision Language Models (VLM’s) + </a:t>
                      </a:r>
                      <a:r>
                        <a:rPr lang="en-US" sz="2800" b="0" i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onderwerpen</a:t>
                      </a: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2800" b="0" i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obv</a:t>
                      </a: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2800" b="0" i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vragen</a:t>
                      </a:r>
                      <a:r>
                        <a:rPr lang="en-US" sz="2800" b="0" i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2800" b="0" i="0" err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studenten</a:t>
                      </a:r>
                      <a:endParaRPr lang="en-US" sz="2800" b="0" i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965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093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6984CF5-0F0A-2EAA-B8FD-7D5C41959DF6}"/>
              </a:ext>
            </a:extLst>
          </p:cNvPr>
          <p:cNvSpPr txBox="1">
            <a:spLocks/>
          </p:cNvSpPr>
          <p:nvPr/>
        </p:nvSpPr>
        <p:spPr>
          <a:xfrm>
            <a:off x="1599542" y="1441129"/>
            <a:ext cx="15087600" cy="14526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>
              <a:defRPr lang="nl-NL"/>
            </a:defPPr>
            <a:lvl1pPr marL="0" algn="l" defTabSz="13716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4400"/>
              <a:t>Vragenbox op DLO</a:t>
            </a:r>
            <a:endParaRPr lang="nl-NL" sz="4400">
              <a:ea typeface="Calibri"/>
              <a:cs typeface="Calibri"/>
            </a:endParaRPr>
          </a:p>
        </p:txBody>
      </p:sp>
      <p:pic>
        <p:nvPicPr>
          <p:cNvPr id="4" name="Afbeelding 3" descr="Afbeelding met tekst, schermopname, software, Lettertype&#10;&#10;Door AI gegenereerde inhoud is mogelijk onjuist.">
            <a:extLst>
              <a:ext uri="{FF2B5EF4-FFF2-40B4-BE49-F238E27FC236}">
                <a16:creationId xmlns:a16="http://schemas.microsoft.com/office/drawing/2014/main" id="{5828223E-0761-681C-AE87-59429DDFD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045" y="2891478"/>
            <a:ext cx="10815851" cy="605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5000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41D29-2418-E89E-3349-62831E09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6464875-0A68-A0AF-8033-03D16F054102}"/>
              </a:ext>
            </a:extLst>
          </p:cNvPr>
          <p:cNvSpPr txBox="1">
            <a:spLocks/>
          </p:cNvSpPr>
          <p:nvPr/>
        </p:nvSpPr>
        <p:spPr>
          <a:xfrm>
            <a:off x="1599542" y="1441129"/>
            <a:ext cx="15087600" cy="14526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>
              <a:defRPr lang="nl-NL"/>
            </a:defPPr>
            <a:lvl1pPr marL="0" algn="l" defTabSz="13716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4400"/>
              <a:t>Techreview</a:t>
            </a:r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92A24-E25E-A253-8E3B-232D91CB9DFE}"/>
              </a:ext>
            </a:extLst>
          </p:cNvPr>
          <p:cNvSpPr txBox="1"/>
          <p:nvPr/>
        </p:nvSpPr>
        <p:spPr>
          <a:xfrm>
            <a:off x="1601787" y="2892426"/>
            <a:ext cx="15252536" cy="63248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Calibri"/>
              <a:buChar char="-"/>
            </a:pPr>
            <a:r>
              <a:rPr lang="en-NL" sz="4200">
                <a:solidFill>
                  <a:srgbClr val="002060"/>
                </a:solidFill>
                <a:ea typeface="Calibri"/>
                <a:cs typeface="Calibri"/>
              </a:rPr>
              <a:t>Assessment on the technical aspect of your project </a:t>
            </a:r>
            <a:r>
              <a:rPr lang="en-NL" sz="4200" b="1">
                <a:solidFill>
                  <a:srgbClr val="002060"/>
                </a:solidFill>
                <a:ea typeface="Calibri"/>
                <a:cs typeface="Calibri"/>
              </a:rPr>
              <a:t>up till that point. </a:t>
            </a:r>
            <a:r>
              <a:rPr lang="en-NL" sz="4200">
                <a:solidFill>
                  <a:srgbClr val="002060"/>
                </a:solidFill>
                <a:ea typeface="Calibri"/>
                <a:cs typeface="Calibri"/>
              </a:rPr>
              <a:t>Outcomes </a:t>
            </a:r>
            <a:r>
              <a:rPr lang="en-NL" sz="4200" b="1">
                <a:solidFill>
                  <a:srgbClr val="002060"/>
                </a:solidFill>
                <a:ea typeface="Calibri"/>
                <a:cs typeface="Calibri"/>
              </a:rPr>
              <a:t>A2, B1, B2, B3, C2</a:t>
            </a:r>
            <a:br>
              <a:rPr lang="en-NL" sz="4200" b="1">
                <a:solidFill>
                  <a:srgbClr val="002060"/>
                </a:solidFill>
                <a:ea typeface="Calibri"/>
                <a:cs typeface="Calibri"/>
              </a:rPr>
            </a:br>
            <a:endParaRPr lang="nl-NL" b="1">
              <a:ea typeface="Calibri"/>
              <a:cs typeface="Calibri"/>
            </a:endParaRPr>
          </a:p>
          <a:p>
            <a:pPr marL="571500" indent="-571500">
              <a:buFont typeface="Calibri"/>
              <a:buChar char="-"/>
            </a:pPr>
            <a:r>
              <a:rPr lang="en-NL" sz="4200">
                <a:solidFill>
                  <a:srgbClr val="002060"/>
                </a:solidFill>
                <a:ea typeface="Calibri"/>
                <a:cs typeface="Calibri"/>
              </a:rPr>
              <a:t>You hand in on the DLO:</a:t>
            </a:r>
          </a:p>
          <a:p>
            <a:pPr marL="1257300" lvl="1" indent="-571500">
              <a:buFont typeface="Courier New"/>
              <a:buChar char="o"/>
            </a:pPr>
            <a:r>
              <a:rPr lang="en-NL" sz="4200">
                <a:solidFill>
                  <a:srgbClr val="002060"/>
                </a:solidFill>
                <a:ea typeface="Calibri"/>
                <a:cs typeface="Calibri"/>
              </a:rPr>
              <a:t>Relevant part of your project report (see study guide)</a:t>
            </a:r>
          </a:p>
          <a:p>
            <a:pPr marL="1257300" lvl="1" indent="-571500">
              <a:buFont typeface="Courier New"/>
              <a:buChar char="o"/>
            </a:pPr>
            <a:r>
              <a:rPr lang="en-NL" sz="4200">
                <a:solidFill>
                  <a:srgbClr val="002060"/>
                </a:solidFill>
                <a:ea typeface="Calibri"/>
                <a:cs typeface="Calibri"/>
              </a:rPr>
              <a:t>Link to your up-to-date Git repo (make it navigable)</a:t>
            </a:r>
            <a:br>
              <a:rPr lang="en-US"/>
            </a:br>
            <a:endParaRPr lang="en-NL" sz="4200">
              <a:solidFill>
                <a:srgbClr val="002060"/>
              </a:solidFill>
              <a:ea typeface="Calibri"/>
              <a:cs typeface="Calibri"/>
            </a:endParaRPr>
          </a:p>
          <a:p>
            <a:pPr marL="571500" indent="-571500">
              <a:buFont typeface="Calibri"/>
              <a:buChar char="-"/>
            </a:pPr>
            <a:r>
              <a:rPr lang="en-NL" sz="4200">
                <a:solidFill>
                  <a:srgbClr val="002060"/>
                </a:solidFill>
                <a:ea typeface="Calibri"/>
                <a:cs typeface="Calibri"/>
              </a:rPr>
              <a:t>See it as a feedbackmoment on your progress, not as a test</a:t>
            </a:r>
          </a:p>
          <a:p>
            <a:pPr marL="571500" indent="-571500">
              <a:buFont typeface="Calibri"/>
              <a:buChar char="-"/>
            </a:pPr>
            <a:endParaRPr lang="en-NL" sz="4200">
              <a:solidFill>
                <a:srgbClr val="002060"/>
              </a:solidFill>
              <a:ea typeface="Calibri"/>
              <a:cs typeface="Calibri"/>
            </a:endParaRPr>
          </a:p>
          <a:p>
            <a:pPr marL="1257300" lvl="1" indent="-571500">
              <a:buFont typeface="Courier New"/>
              <a:buChar char="o"/>
            </a:pPr>
            <a:endParaRPr lang="en-NL" sz="4200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156563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BE066-4E6D-BADA-658E-F7E3760F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DA9D44A-E3D5-8E6F-36D9-C534D3922F57}"/>
              </a:ext>
            </a:extLst>
          </p:cNvPr>
          <p:cNvSpPr txBox="1">
            <a:spLocks/>
          </p:cNvSpPr>
          <p:nvPr/>
        </p:nvSpPr>
        <p:spPr>
          <a:xfrm>
            <a:off x="1599542" y="1441129"/>
            <a:ext cx="15087600" cy="14526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>
              <a:defRPr lang="nl-NL"/>
            </a:defPPr>
            <a:lvl1pPr marL="0" algn="l" defTabSz="13716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4400"/>
              <a:t>Usage of Generative AI within this module</a:t>
            </a:r>
            <a:endParaRPr lang="nl-NL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ADEF5C63-AE1E-B486-2265-637B924AAF5F}"/>
              </a:ext>
            </a:extLst>
          </p:cNvPr>
          <p:cNvSpPr txBox="1"/>
          <p:nvPr/>
        </p:nvSpPr>
        <p:spPr>
          <a:xfrm>
            <a:off x="1601787" y="2892426"/>
            <a:ext cx="15252536" cy="5909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Calibri"/>
              <a:buChar char="-"/>
            </a:pPr>
            <a:r>
              <a:rPr lang="en-NL" sz="4200">
                <a:solidFill>
                  <a:srgbClr val="002060"/>
                </a:solidFill>
                <a:ea typeface="Calibri"/>
                <a:cs typeface="Calibri"/>
              </a:rPr>
              <a:t>AI Assessment Scale Level 3: </a:t>
            </a:r>
            <a:r>
              <a:rPr lang="nl-NL" sz="4200">
                <a:solidFill>
                  <a:srgbClr val="002060"/>
                </a:solidFill>
                <a:ea typeface="Calibri"/>
                <a:cs typeface="Calibri"/>
              </a:rPr>
              <a:t>AI mag gebruikt worden ter </a:t>
            </a:r>
            <a:r>
              <a:rPr lang="nl-NL" sz="4200" i="1">
                <a:solidFill>
                  <a:srgbClr val="002060"/>
                </a:solidFill>
                <a:ea typeface="Calibri"/>
                <a:cs typeface="Calibri"/>
              </a:rPr>
              <a:t>ondersteuning </a:t>
            </a:r>
            <a:r>
              <a:rPr lang="nl-NL" sz="4200">
                <a:solidFill>
                  <a:srgbClr val="002060"/>
                </a:solidFill>
                <a:ea typeface="Calibri"/>
                <a:cs typeface="Calibri"/>
              </a:rPr>
              <a:t>bij specifieke taken. Je wordt altijd verplicht om AI-gegenereerde content kritisch te evalueren en indien nodig aan te passen (Zie Techworkshop DLO)</a:t>
            </a:r>
            <a:br>
              <a:rPr lang="en-US"/>
            </a:br>
            <a:endParaRPr lang="nl-NL" sz="4200">
              <a:solidFill>
                <a:srgbClr val="002060"/>
              </a:solidFill>
              <a:ea typeface="Calibri"/>
              <a:cs typeface="Calibri"/>
            </a:endParaRPr>
          </a:p>
          <a:p>
            <a:pPr marL="571500" indent="-571500">
              <a:buFont typeface="Calibri"/>
              <a:buChar char="-"/>
            </a:pPr>
            <a:r>
              <a:rPr lang="en-NL" sz="4200">
                <a:solidFill>
                  <a:srgbClr val="002060"/>
                </a:solidFill>
                <a:ea typeface="Calibri"/>
                <a:cs typeface="Calibri"/>
              </a:rPr>
              <a:t>Verantwoording van keuzes in eigen woorden om begrip aan te kunnen tonen – Gen AI niet toegestaan voor </a:t>
            </a:r>
            <a:r>
              <a:rPr lang="en-NL" sz="4200" b="1">
                <a:solidFill>
                  <a:srgbClr val="002060"/>
                </a:solidFill>
                <a:ea typeface="Calibri"/>
                <a:cs typeface="Calibri"/>
              </a:rPr>
              <a:t>schrijven </a:t>
            </a:r>
            <a:r>
              <a:rPr lang="en-NL" sz="4200">
                <a:solidFill>
                  <a:srgbClr val="002060"/>
                </a:solidFill>
                <a:ea typeface="Calibri"/>
                <a:cs typeface="Calibri"/>
              </a:rPr>
              <a:t>uiteindelijke uitleg in rapport.</a:t>
            </a:r>
          </a:p>
          <a:p>
            <a:pPr marL="571500" indent="-571500">
              <a:buFont typeface="Calibri"/>
              <a:buChar char="-"/>
            </a:pPr>
            <a:endParaRPr lang="en-NL" sz="4200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017972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19F47-6D64-7B11-F293-7FA1DFA03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9A4263A6-9317-356D-FA70-741FBA534925}"/>
              </a:ext>
            </a:extLst>
          </p:cNvPr>
          <p:cNvSpPr/>
          <p:nvPr/>
        </p:nvSpPr>
        <p:spPr>
          <a:xfrm>
            <a:off x="-2173" y="2263"/>
            <a:ext cx="18290896" cy="10282472"/>
          </a:xfrm>
          <a:prstGeom prst="rect">
            <a:avLst/>
          </a:prstGeom>
          <a:solidFill>
            <a:srgbClr val="98480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90428180-FA2E-566B-0B1F-0463858BB620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-139751" y="305003"/>
            <a:ext cx="2036336" cy="1763467"/>
            <a:chOff x="0" y="0"/>
            <a:chExt cx="6350000" cy="5499100"/>
          </a:xfrm>
          <a:solidFill>
            <a:srgbClr val="F08026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FD7FECD4-F1FA-D0BA-B17E-004C4783D3C5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0028D329-A881-72AC-C617-9A7E8A6D34B8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10200" y="1764038"/>
            <a:ext cx="1018168" cy="881733"/>
            <a:chOff x="0" y="0"/>
            <a:chExt cx="6350000" cy="5499100"/>
          </a:xfrm>
          <a:solidFill>
            <a:srgbClr val="F08026"/>
          </a:solidFill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F667E584-DCF3-A1A4-48C0-020656F1F9ED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/>
            </a:p>
          </p:txBody>
        </p:sp>
      </p:grpSp>
      <p:pic>
        <p:nvPicPr>
          <p:cNvPr id="11" name="Tijdelijke aanduiding voor afbeelding 3">
            <a:extLst>
              <a:ext uri="{FF2B5EF4-FFF2-40B4-BE49-F238E27FC236}">
                <a16:creationId xmlns:a16="http://schemas.microsoft.com/office/drawing/2014/main" id="{4B6F17DF-FCD3-6FDF-AD67-98E7C2CBC4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" r="122"/>
          <a:stretch>
            <a:fillRect/>
          </a:stretch>
        </p:blipFill>
        <p:spPr>
          <a:xfrm>
            <a:off x="12117482" y="-221227"/>
            <a:ext cx="6822419" cy="1470024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78346265-6C93-C41C-7BC5-1C1572290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429" y="4568397"/>
            <a:ext cx="1475377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sz="7200">
                <a:solidFill>
                  <a:schemeClr val="bg1"/>
                </a:solidFill>
                <a:ea typeface="Calibri"/>
                <a:cs typeface="Calibri"/>
              </a:rPr>
              <a:t>AI </a:t>
            </a:r>
            <a:r>
              <a:rPr lang="nl-NL" sz="7200" err="1">
                <a:solidFill>
                  <a:schemeClr val="bg1"/>
                </a:solidFill>
                <a:ea typeface="Calibri"/>
                <a:cs typeface="Calibri"/>
              </a:rPr>
              <a:t>assisted</a:t>
            </a:r>
            <a:r>
              <a:rPr lang="nl-NL" sz="72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nl-NL" sz="7200" err="1">
                <a:solidFill>
                  <a:schemeClr val="bg1"/>
                </a:solidFill>
                <a:ea typeface="Calibri"/>
                <a:cs typeface="Calibri"/>
              </a:rPr>
              <a:t>Coding</a:t>
            </a:r>
            <a:endParaRPr lang="nl-NL" sz="72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4377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FFAE549-5C1F-D89D-FF0C-B6B11CA06772}"/>
              </a:ext>
            </a:extLst>
          </p:cNvPr>
          <p:cNvSpPr txBox="1">
            <a:spLocks/>
          </p:cNvSpPr>
          <p:nvPr/>
        </p:nvSpPr>
        <p:spPr>
          <a:xfrm>
            <a:off x="2153982" y="912278"/>
            <a:ext cx="15087600" cy="14526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defPPr>
              <a:defRPr lang="nl-NL"/>
            </a:defPPr>
            <a:lvl1pPr marL="0" algn="l" defTabSz="13716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4400"/>
              <a:t>AI Assisted Coding in VS Code</a:t>
            </a:r>
          </a:p>
        </p:txBody>
      </p:sp>
      <p:sp>
        <p:nvSpPr>
          <p:cNvPr id="6" name="Up Arrow 3">
            <a:extLst>
              <a:ext uri="{FF2B5EF4-FFF2-40B4-BE49-F238E27FC236}">
                <a16:creationId xmlns:a16="http://schemas.microsoft.com/office/drawing/2014/main" id="{8447669A-B6A0-FC78-CA7E-2A8414364DD5}"/>
              </a:ext>
            </a:extLst>
          </p:cNvPr>
          <p:cNvSpPr/>
          <p:nvPr/>
        </p:nvSpPr>
        <p:spPr>
          <a:xfrm rot="13517694">
            <a:off x="11955772" y="1419306"/>
            <a:ext cx="681443" cy="2251185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NL" sz="405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080D6CF-92D0-0EE8-8B57-718756CB2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396" y="3453578"/>
            <a:ext cx="11606264" cy="6275639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868E0CC8-EF96-22A3-E914-46F48659C2D7}"/>
              </a:ext>
            </a:extLst>
          </p:cNvPr>
          <p:cNvSpPr txBox="1"/>
          <p:nvPr/>
        </p:nvSpPr>
        <p:spPr>
          <a:xfrm>
            <a:off x="14761611" y="8452524"/>
            <a:ext cx="3181186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4050">
                <a:solidFill>
                  <a:srgbClr val="002060"/>
                </a:solidFill>
              </a:rPr>
              <a:t>&lt;-- Try a different model!</a:t>
            </a:r>
          </a:p>
        </p:txBody>
      </p:sp>
    </p:spTree>
    <p:extLst>
      <p:ext uri="{BB962C8B-B14F-4D97-AF65-F5344CB8AC3E}">
        <p14:creationId xmlns:p14="http://schemas.microsoft.com/office/powerpoint/2010/main" val="254744966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96859E0-864A-9340-DF40-E7AC72C7FFA5}"/>
              </a:ext>
            </a:extLst>
          </p:cNvPr>
          <p:cNvSpPr txBox="1">
            <a:spLocks/>
          </p:cNvSpPr>
          <p:nvPr/>
        </p:nvSpPr>
        <p:spPr>
          <a:xfrm>
            <a:off x="951827" y="840348"/>
            <a:ext cx="15969546" cy="2216715"/>
          </a:xfrm>
          <a:prstGeom prst="rect">
            <a:avLst/>
          </a:prstGeom>
        </p:spPr>
        <p:txBody>
          <a:bodyPr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1"/>
            <a:r>
              <a:rPr lang="en-NL" sz="6000">
                <a:solidFill>
                  <a:srgbClr val="002060"/>
                </a:solidFill>
              </a:rPr>
              <a:t>Do you get the right response?   ‘Alignment’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9AB187A-EC1F-2754-E62B-7A5A0F81324D}"/>
              </a:ext>
            </a:extLst>
          </p:cNvPr>
          <p:cNvSpPr/>
          <p:nvPr/>
        </p:nvSpPr>
        <p:spPr>
          <a:xfrm>
            <a:off x="3633224" y="3733104"/>
            <a:ext cx="3148577" cy="962499"/>
          </a:xfrm>
          <a:prstGeom prst="roundRect">
            <a:avLst/>
          </a:prstGeom>
          <a:solidFill>
            <a:srgbClr val="00206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3579" tIns="53579" rIns="53579" bIns="53579" numCol="1" spcCol="38100" rtlCol="0" anchor="ctr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16149" hangingPunct="0"/>
            <a:r>
              <a:rPr lang="en-NL" sz="4950">
                <a:solidFill>
                  <a:srgbClr val="FFFFFF"/>
                </a:solidFill>
                <a:sym typeface="Helvetica Neue Medium"/>
              </a:rPr>
              <a:t>Prompt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D1E8D9-4A77-7C8D-B726-8E15B1551CEA}"/>
              </a:ext>
            </a:extLst>
          </p:cNvPr>
          <p:cNvSpPr/>
          <p:nvPr/>
        </p:nvSpPr>
        <p:spPr>
          <a:xfrm>
            <a:off x="9634759" y="3733104"/>
            <a:ext cx="3780713" cy="962499"/>
          </a:xfrm>
          <a:prstGeom prst="roundRect">
            <a:avLst/>
          </a:prstGeom>
          <a:solidFill>
            <a:srgbClr val="00206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3579" tIns="53579" rIns="53579" bIns="53579" numCol="1" spcCol="38100" rtlCol="0" anchor="ctr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16149" hangingPunct="0"/>
            <a:r>
              <a:rPr lang="en-NL" sz="4950">
                <a:solidFill>
                  <a:srgbClr val="FFFFFF"/>
                </a:solidFill>
                <a:sym typeface="Helvetica Neue Medium"/>
              </a:rPr>
              <a:t>Response</a:t>
            </a:r>
          </a:p>
        </p:txBody>
      </p:sp>
      <p:pic>
        <p:nvPicPr>
          <p:cNvPr id="9" name="Graphic 8" descr="Brain in head outline">
            <a:extLst>
              <a:ext uri="{FF2B5EF4-FFF2-40B4-BE49-F238E27FC236}">
                <a16:creationId xmlns:a16="http://schemas.microsoft.com/office/drawing/2014/main" id="{6B2CF136-AFE7-68D9-7254-CBC841B18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1827" y="3471402"/>
            <a:ext cx="1485900" cy="1485900"/>
          </a:xfrm>
          <a:prstGeom prst="rect">
            <a:avLst/>
          </a:prstGeom>
        </p:spPr>
      </p:pic>
      <p:pic>
        <p:nvPicPr>
          <p:cNvPr id="10" name="Graphic 9" descr="Brain in head outline">
            <a:extLst>
              <a:ext uri="{FF2B5EF4-FFF2-40B4-BE49-F238E27FC236}">
                <a16:creationId xmlns:a16="http://schemas.microsoft.com/office/drawing/2014/main" id="{6CA80F0A-EA30-0199-A729-200521032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0536" y="3471402"/>
            <a:ext cx="1485900" cy="148590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201FD5B-2842-77F9-81AA-651BF721676D}"/>
              </a:ext>
            </a:extLst>
          </p:cNvPr>
          <p:cNvCxnSpPr>
            <a:cxnSpLocks/>
          </p:cNvCxnSpPr>
          <p:nvPr/>
        </p:nvCxnSpPr>
        <p:spPr>
          <a:xfrm>
            <a:off x="2437727" y="4214352"/>
            <a:ext cx="969152" cy="0"/>
          </a:xfrm>
          <a:prstGeom prst="straightConnector1">
            <a:avLst/>
          </a:prstGeom>
          <a:noFill/>
          <a:ln w="76200" cap="flat">
            <a:solidFill>
              <a:srgbClr val="00206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09C1BB-B933-C295-978B-EEA9200BC897}"/>
              </a:ext>
            </a:extLst>
          </p:cNvPr>
          <p:cNvCxnSpPr>
            <a:cxnSpLocks/>
          </p:cNvCxnSpPr>
          <p:nvPr/>
        </p:nvCxnSpPr>
        <p:spPr>
          <a:xfrm>
            <a:off x="14085695" y="4214352"/>
            <a:ext cx="969152" cy="0"/>
          </a:xfrm>
          <a:prstGeom prst="straightConnector1">
            <a:avLst/>
          </a:prstGeom>
          <a:noFill/>
          <a:ln w="76200" cap="flat">
            <a:solidFill>
              <a:srgbClr val="00206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E308DC7-91BB-7CAE-1CFE-E27D4732D35F}"/>
              </a:ext>
            </a:extLst>
          </p:cNvPr>
          <p:cNvSpPr txBox="1"/>
          <p:nvPr/>
        </p:nvSpPr>
        <p:spPr>
          <a:xfrm>
            <a:off x="1418880" y="8180470"/>
            <a:ext cx="1570468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4050"/>
              <a:t>Intro to Alignment: </a:t>
            </a:r>
            <a:r>
              <a:rPr lang="en-GB" sz="4050">
                <a:hlinkClick r:id="rId4"/>
              </a:rPr>
              <a:t>https://aligned.substack.com/p/what-is-alignment</a:t>
            </a:r>
            <a:r>
              <a:rPr lang="en-GB" sz="4050"/>
              <a:t>, blog by Jan </a:t>
            </a:r>
            <a:r>
              <a:rPr lang="en-GB" sz="4050" err="1"/>
              <a:t>Leike</a:t>
            </a:r>
            <a:endParaRPr lang="en-NL" sz="40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9616CC-E56E-8FE6-A5B7-BBE53E77F5BB}"/>
              </a:ext>
            </a:extLst>
          </p:cNvPr>
          <p:cNvSpPr txBox="1"/>
          <p:nvPr/>
        </p:nvSpPr>
        <p:spPr>
          <a:xfrm>
            <a:off x="7269954" y="3093676"/>
            <a:ext cx="2018016" cy="477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3579" tIns="53579" rIns="53579" bIns="53579" numCol="1" spcCol="38100" rtlCol="0" anchor="ctr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16149" hangingPunct="0"/>
            <a:r>
              <a:rPr lang="nl-NL"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lang="en-NL" sz="2400" b="1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Picture 2" descr="Gegenereerde afbeelding">
            <a:extLst>
              <a:ext uri="{FF2B5EF4-FFF2-40B4-BE49-F238E27FC236}">
                <a16:creationId xmlns:a16="http://schemas.microsoft.com/office/drawing/2014/main" id="{786D07E6-5448-B826-EB7E-BA023EC6C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21" y="3571211"/>
            <a:ext cx="1286283" cy="1286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140D7DE2-DB98-3741-B629-76C5A214E719}"/>
              </a:ext>
            </a:extLst>
          </p:cNvPr>
          <p:cNvSpPr/>
          <p:nvPr/>
        </p:nvSpPr>
        <p:spPr>
          <a:xfrm>
            <a:off x="5679283" y="4950620"/>
            <a:ext cx="5765006" cy="1328796"/>
          </a:xfrm>
          <a:custGeom>
            <a:avLst/>
            <a:gdLst>
              <a:gd name="connsiteX0" fmla="*/ 3843337 w 3843337"/>
              <a:gd name="connsiteY0" fmla="*/ 0 h 885864"/>
              <a:gd name="connsiteX1" fmla="*/ 2357437 w 3843337"/>
              <a:gd name="connsiteY1" fmla="*/ 885825 h 885864"/>
              <a:gd name="connsiteX2" fmla="*/ 0 w 3843337"/>
              <a:gd name="connsiteY2" fmla="*/ 28575 h 88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43337" h="885864">
                <a:moveTo>
                  <a:pt x="3843337" y="0"/>
                </a:moveTo>
                <a:cubicBezTo>
                  <a:pt x="3420665" y="440531"/>
                  <a:pt x="2997993" y="881063"/>
                  <a:pt x="2357437" y="885825"/>
                </a:cubicBezTo>
                <a:cubicBezTo>
                  <a:pt x="1716881" y="890587"/>
                  <a:pt x="858440" y="459581"/>
                  <a:pt x="0" y="28575"/>
                </a:cubicBezTo>
              </a:path>
            </a:pathLst>
          </a:custGeom>
          <a:noFill/>
          <a:ln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NL" sz="405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C0A78FE-1E98-1D21-5EDC-E51D3AE07B56}"/>
              </a:ext>
            </a:extLst>
          </p:cNvPr>
          <p:cNvSpPr/>
          <p:nvPr/>
        </p:nvSpPr>
        <p:spPr>
          <a:xfrm>
            <a:off x="2437728" y="5329700"/>
            <a:ext cx="12982809" cy="2725920"/>
          </a:xfrm>
          <a:custGeom>
            <a:avLst/>
            <a:gdLst>
              <a:gd name="connsiteX0" fmla="*/ 3843337 w 3843337"/>
              <a:gd name="connsiteY0" fmla="*/ 0 h 885864"/>
              <a:gd name="connsiteX1" fmla="*/ 2357437 w 3843337"/>
              <a:gd name="connsiteY1" fmla="*/ 885825 h 885864"/>
              <a:gd name="connsiteX2" fmla="*/ 0 w 3843337"/>
              <a:gd name="connsiteY2" fmla="*/ 28575 h 88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43337" h="885864">
                <a:moveTo>
                  <a:pt x="3843337" y="0"/>
                </a:moveTo>
                <a:cubicBezTo>
                  <a:pt x="3420665" y="440531"/>
                  <a:pt x="2997993" y="881063"/>
                  <a:pt x="2357437" y="885825"/>
                </a:cubicBezTo>
                <a:cubicBezTo>
                  <a:pt x="1716881" y="890587"/>
                  <a:pt x="858440" y="459581"/>
                  <a:pt x="0" y="28575"/>
                </a:cubicBezTo>
              </a:path>
            </a:pathLst>
          </a:custGeom>
          <a:noFill/>
          <a:ln w="50800"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NL" sz="4050"/>
          </a:p>
        </p:txBody>
      </p:sp>
    </p:spTree>
    <p:extLst>
      <p:ext uri="{BB962C8B-B14F-4D97-AF65-F5344CB8AC3E}">
        <p14:creationId xmlns:p14="http://schemas.microsoft.com/office/powerpoint/2010/main" val="241494396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7DB59-27DB-BC3A-4401-B8AC9FBE7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3C91177-7AF6-E9A1-C50A-D8F0D694A017}"/>
              </a:ext>
            </a:extLst>
          </p:cNvPr>
          <p:cNvSpPr txBox="1">
            <a:spLocks/>
          </p:cNvSpPr>
          <p:nvPr/>
        </p:nvSpPr>
        <p:spPr>
          <a:xfrm>
            <a:off x="951827" y="840348"/>
            <a:ext cx="15969546" cy="2216715"/>
          </a:xfrm>
          <a:prstGeom prst="rect">
            <a:avLst/>
          </a:prstGeom>
        </p:spPr>
        <p:txBody>
          <a:bodyPr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1"/>
            <a:r>
              <a:rPr lang="en-NL" sz="6000">
                <a:solidFill>
                  <a:srgbClr val="002060"/>
                </a:solidFill>
              </a:rPr>
              <a:t>Tips for better prompting in AI coding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C3E36DE-1EC7-C57B-864E-CD4F9E58644A}"/>
              </a:ext>
            </a:extLst>
          </p:cNvPr>
          <p:cNvSpPr/>
          <p:nvPr/>
        </p:nvSpPr>
        <p:spPr>
          <a:xfrm>
            <a:off x="4125644" y="3235893"/>
            <a:ext cx="2465402" cy="962499"/>
          </a:xfrm>
          <a:prstGeom prst="roundRect">
            <a:avLst/>
          </a:prstGeom>
          <a:solidFill>
            <a:srgbClr val="00206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3579" tIns="53579" rIns="53579" bIns="53579" numCol="1" spcCol="38100" rtlCol="0" anchor="ctr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16149" hangingPunct="0"/>
            <a:r>
              <a:rPr lang="en-NL" sz="4950">
                <a:solidFill>
                  <a:srgbClr val="FFFFFF"/>
                </a:solidFill>
                <a:sym typeface="Helvetica Neue Medium"/>
              </a:rPr>
              <a:t>Prompt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BC98867-9434-9863-A5D1-77A4B3A284EC}"/>
              </a:ext>
            </a:extLst>
          </p:cNvPr>
          <p:cNvSpPr/>
          <p:nvPr/>
        </p:nvSpPr>
        <p:spPr>
          <a:xfrm>
            <a:off x="9977657" y="3235083"/>
            <a:ext cx="3234467" cy="962499"/>
          </a:xfrm>
          <a:prstGeom prst="roundRect">
            <a:avLst/>
          </a:prstGeom>
          <a:solidFill>
            <a:srgbClr val="00206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3579" tIns="53579" rIns="53579" bIns="53579" numCol="1" spcCol="38100" rtlCol="0" anchor="ctr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16149" hangingPunct="0"/>
            <a:r>
              <a:rPr lang="en-NL" sz="4950">
                <a:solidFill>
                  <a:srgbClr val="FFFFFF"/>
                </a:solidFill>
                <a:sym typeface="Helvetica Neue Medium"/>
              </a:rPr>
              <a:t>Response</a:t>
            </a:r>
          </a:p>
        </p:txBody>
      </p:sp>
      <p:pic>
        <p:nvPicPr>
          <p:cNvPr id="9" name="Graphic 8" descr="Brain in head outline">
            <a:extLst>
              <a:ext uri="{FF2B5EF4-FFF2-40B4-BE49-F238E27FC236}">
                <a16:creationId xmlns:a16="http://schemas.microsoft.com/office/drawing/2014/main" id="{015B517E-21BD-0570-3B5F-E6D3ED848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1827" y="2973381"/>
            <a:ext cx="1485900" cy="1485900"/>
          </a:xfrm>
          <a:prstGeom prst="rect">
            <a:avLst/>
          </a:prstGeom>
        </p:spPr>
      </p:pic>
      <p:pic>
        <p:nvPicPr>
          <p:cNvPr id="10" name="Graphic 9" descr="Brain in head outline">
            <a:extLst>
              <a:ext uri="{FF2B5EF4-FFF2-40B4-BE49-F238E27FC236}">
                <a16:creationId xmlns:a16="http://schemas.microsoft.com/office/drawing/2014/main" id="{0955AD91-92D6-1097-B3FB-110116A32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20536" y="2973381"/>
            <a:ext cx="1485900" cy="148590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9982160-8ABE-0AA2-DCBD-CDB585B2D732}"/>
              </a:ext>
            </a:extLst>
          </p:cNvPr>
          <p:cNvCxnSpPr>
            <a:cxnSpLocks/>
          </p:cNvCxnSpPr>
          <p:nvPr/>
        </p:nvCxnSpPr>
        <p:spPr>
          <a:xfrm>
            <a:off x="2599091" y="3716331"/>
            <a:ext cx="969152" cy="0"/>
          </a:xfrm>
          <a:prstGeom prst="straightConnector1">
            <a:avLst/>
          </a:prstGeom>
          <a:noFill/>
          <a:ln w="76200" cap="flat">
            <a:solidFill>
              <a:srgbClr val="00206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5CCAB17-8D1A-3B68-293B-D458BC3F4E1B}"/>
              </a:ext>
            </a:extLst>
          </p:cNvPr>
          <p:cNvCxnSpPr>
            <a:cxnSpLocks/>
          </p:cNvCxnSpPr>
          <p:nvPr/>
        </p:nvCxnSpPr>
        <p:spPr>
          <a:xfrm>
            <a:off x="14085695" y="3716331"/>
            <a:ext cx="969152" cy="0"/>
          </a:xfrm>
          <a:prstGeom prst="straightConnector1">
            <a:avLst/>
          </a:prstGeom>
          <a:noFill/>
          <a:ln w="76200" cap="flat">
            <a:solidFill>
              <a:srgbClr val="00206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BF42A06-3377-D502-FE7C-D28270BF2608}"/>
              </a:ext>
            </a:extLst>
          </p:cNvPr>
          <p:cNvSpPr txBox="1"/>
          <p:nvPr/>
        </p:nvSpPr>
        <p:spPr>
          <a:xfrm>
            <a:off x="7269954" y="2660150"/>
            <a:ext cx="2018016" cy="477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3579" tIns="53579" rIns="53579" bIns="53579" numCol="1" spcCol="38100" rtlCol="0" anchor="ctr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16149" hangingPunct="0"/>
            <a:r>
              <a:rPr lang="nl-NL"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</a:t>
            </a:r>
            <a:endParaRPr lang="en-NL" sz="2400" b="1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63E06-BB82-1300-7AE3-6C61E03B8C29}"/>
              </a:ext>
            </a:extLst>
          </p:cNvPr>
          <p:cNvSpPr txBox="1"/>
          <p:nvPr/>
        </p:nvSpPr>
        <p:spPr>
          <a:xfrm>
            <a:off x="1692121" y="4812530"/>
            <a:ext cx="6298917" cy="5401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3579" tIns="53579" rIns="53579" bIns="53579" numCol="1" spcCol="38100" rtlCol="0" anchor="ctr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16149" hangingPunct="0"/>
            <a:r>
              <a:rPr lang="nl-NL" sz="2800" b="1">
                <a:solidFill>
                  <a:srgbClr val="00206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nl-NL" sz="3200" b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rite a </a:t>
            </a:r>
            <a:r>
              <a:rPr lang="nl-NL" sz="3200" b="1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better</a:t>
            </a:r>
            <a:r>
              <a:rPr lang="nl-NL" sz="3200" b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prompt</a:t>
            </a:r>
            <a:endParaRPr lang="nl-NL" sz="3200" b="1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defTabSz="616149" hangingPunct="0"/>
            <a:endParaRPr lang="nl-NL" sz="3200" b="1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marL="428625" indent="-428625" defTabSz="616149" hangingPunct="0">
              <a:buFontTx/>
              <a:buChar char="-"/>
            </a:pP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Think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before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you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prompt</a:t>
            </a:r>
            <a:endParaRPr lang="nl-NL" sz="3200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marL="428625" indent="-428625" defTabSz="616149" hangingPunct="0">
              <a:buFontTx/>
              <a:buChar char="-"/>
            </a:pPr>
            <a:endParaRPr lang="nl-NL" sz="3200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marL="428625" indent="-428625" defTabSz="616149" hangingPunct="0">
              <a:buFontTx/>
              <a:buChar char="-"/>
            </a:pP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Try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different prompts</a:t>
            </a:r>
            <a:endParaRPr lang="nl-NL" sz="3200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marL="428625" indent="-428625" defTabSz="616149" hangingPunct="0">
              <a:buFontTx/>
              <a:buChar char="-"/>
            </a:pPr>
            <a:endParaRPr lang="nl-NL" sz="3200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marL="428625" indent="-428625" defTabSz="616149" hangingPunct="0">
              <a:buFontTx/>
              <a:buChar char="-"/>
            </a:pP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For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beginnners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,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you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can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add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‘</a:t>
            </a:r>
            <a:r>
              <a:rPr lang="nl-NL" sz="3200" i="1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write</a:t>
            </a:r>
            <a:r>
              <a:rPr lang="nl-NL" sz="3200" i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</a:t>
            </a:r>
            <a:r>
              <a:rPr lang="nl-NL" sz="3200" i="1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simple</a:t>
            </a:r>
            <a:r>
              <a:rPr lang="nl-NL" sz="3200" i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code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…’</a:t>
            </a:r>
            <a:endParaRPr lang="nl-NL" sz="3200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marL="428625" indent="-428625" defTabSz="616149" hangingPunct="0">
              <a:buFontTx/>
              <a:buChar char="-"/>
            </a:pPr>
            <a:endParaRPr lang="nl-NL" sz="3200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defTabSz="616149" hangingPunct="0"/>
            <a:endParaRPr lang="nl-NL" sz="3200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marL="428625" indent="-428625" defTabSz="616149" hangingPunct="0">
              <a:buFontTx/>
              <a:buChar char="-"/>
            </a:pPr>
            <a:endParaRPr lang="en-NL"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738D8D-8F45-13B4-6593-7CE0B3FADE14}"/>
              </a:ext>
            </a:extLst>
          </p:cNvPr>
          <p:cNvSpPr txBox="1"/>
          <p:nvPr/>
        </p:nvSpPr>
        <p:spPr>
          <a:xfrm>
            <a:off x="9695380" y="4814720"/>
            <a:ext cx="7429938" cy="45401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3579" tIns="53579" rIns="53579" bIns="53579" numCol="1" spcCol="38100" rtlCol="0" anchor="ctr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16149" hangingPunct="0"/>
            <a:r>
              <a:rPr lang="nl-NL" sz="3200" b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Understand </a:t>
            </a:r>
            <a:r>
              <a:rPr lang="nl-NL" sz="3200" b="1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the</a:t>
            </a:r>
            <a:r>
              <a:rPr lang="nl-NL" sz="3200" b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response</a:t>
            </a:r>
            <a:endParaRPr lang="nl-NL" sz="3200" b="1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defTabSz="616149" hangingPunct="0"/>
            <a:endParaRPr lang="nl-NL" sz="3200" b="1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marL="428625" indent="-428625" defTabSz="616149" hangingPunct="0">
              <a:buFontTx/>
              <a:buChar char="-"/>
            </a:pP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Be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aware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of mistakes. </a:t>
            </a:r>
            <a:endParaRPr lang="nl-NL" sz="3200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marL="428625" indent="-428625" defTabSz="616149" hangingPunct="0">
              <a:buFontTx/>
              <a:buChar char="-"/>
            </a:pPr>
            <a:endParaRPr lang="nl-NL" sz="3200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marL="428625" indent="-428625" defTabSz="616149" hangingPunct="0">
              <a:buFontTx/>
              <a:buChar char="-"/>
            </a:pP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Ask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questions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like “</a:t>
            </a:r>
            <a:r>
              <a:rPr lang="nl-NL" sz="3200" i="1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Explain</a:t>
            </a:r>
            <a:r>
              <a:rPr lang="nl-NL" sz="3200" i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</a:t>
            </a:r>
            <a:r>
              <a:rPr lang="nl-NL" sz="3200" i="1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this</a:t>
            </a:r>
            <a:r>
              <a:rPr lang="nl-NL" sz="3200" i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code </a:t>
            </a:r>
            <a:r>
              <a:rPr lang="nl-NL" sz="3200" i="1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to</a:t>
            </a:r>
            <a:r>
              <a:rPr lang="nl-NL" sz="3200" i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me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”</a:t>
            </a:r>
            <a:endParaRPr lang="nl-NL" sz="3200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marL="428625" indent="-428625" defTabSz="616149" hangingPunct="0">
              <a:buFontTx/>
              <a:buChar char="-"/>
            </a:pPr>
            <a:endParaRPr lang="nl-NL" sz="3200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  <a:p>
            <a:pPr marL="428625" indent="-428625" defTabSz="616149" hangingPunct="0">
              <a:buFontTx/>
              <a:buChar char="-"/>
            </a:pP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Decide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if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you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want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to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use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the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code or start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again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with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a </a:t>
            </a:r>
            <a:r>
              <a:rPr lang="nl-NL" sz="3200" err="1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differerent</a:t>
            </a:r>
            <a:r>
              <a:rPr lang="nl-NL" sz="3200">
                <a:solidFill>
                  <a:srgbClr val="002060"/>
                </a:solidFill>
                <a:latin typeface="Calibri"/>
                <a:ea typeface="Helvetica Neue"/>
                <a:cs typeface="Helvetica Neue"/>
                <a:sym typeface="Helvetica Neue"/>
              </a:rPr>
              <a:t> prompt. </a:t>
            </a:r>
            <a:endParaRPr lang="en-NL" sz="3200">
              <a:solidFill>
                <a:srgbClr val="002060"/>
              </a:solidFill>
              <a:latin typeface="Calibri"/>
              <a:ea typeface="Helvetica Neue"/>
              <a:cs typeface="Helvetica Neue"/>
            </a:endParaRPr>
          </a:p>
        </p:txBody>
      </p:sp>
      <p:pic>
        <p:nvPicPr>
          <p:cNvPr id="1026" name="Picture 2" descr="Gegenereerde afbeelding">
            <a:extLst>
              <a:ext uri="{FF2B5EF4-FFF2-40B4-BE49-F238E27FC236}">
                <a16:creationId xmlns:a16="http://schemas.microsoft.com/office/drawing/2014/main" id="{C71C31D3-640E-329E-0126-C8961FC17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21" y="3073190"/>
            <a:ext cx="1286283" cy="1286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Graphic 16" descr="Arrow circle with solid fill">
            <a:extLst>
              <a:ext uri="{FF2B5EF4-FFF2-40B4-BE49-F238E27FC236}">
                <a16:creationId xmlns:a16="http://schemas.microsoft.com/office/drawing/2014/main" id="{1F93A07F-8A94-A120-DAA1-9411A2DE47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69955" y="5719900"/>
            <a:ext cx="2001929" cy="20019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6DBCE-3602-222A-8A15-89E3C5611913}"/>
              </a:ext>
            </a:extLst>
          </p:cNvPr>
          <p:cNvSpPr txBox="1"/>
          <p:nvPr/>
        </p:nvSpPr>
        <p:spPr>
          <a:xfrm>
            <a:off x="7694561" y="6443864"/>
            <a:ext cx="12862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NL" sz="2100">
                <a:solidFill>
                  <a:srgbClr val="002060"/>
                </a:solidFill>
              </a:rPr>
              <a:t>iterate</a:t>
            </a:r>
          </a:p>
        </p:txBody>
      </p:sp>
    </p:spTree>
    <p:extLst>
      <p:ext uri="{BB962C8B-B14F-4D97-AF65-F5344CB8AC3E}">
        <p14:creationId xmlns:p14="http://schemas.microsoft.com/office/powerpoint/2010/main" val="24429399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Gegenereerde afbeelding">
            <a:extLst>
              <a:ext uri="{FF2B5EF4-FFF2-40B4-BE49-F238E27FC236}">
                <a16:creationId xmlns:a16="http://schemas.microsoft.com/office/drawing/2014/main" id="{6E380BF9-24DB-3487-6085-115EDC7E3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094" y="1746648"/>
            <a:ext cx="4786313" cy="7179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86EFE51-9BCC-EDB6-EF70-DD5054F37E75}"/>
              </a:ext>
            </a:extLst>
          </p:cNvPr>
          <p:cNvSpPr txBox="1">
            <a:spLocks/>
          </p:cNvSpPr>
          <p:nvPr/>
        </p:nvSpPr>
        <p:spPr>
          <a:xfrm>
            <a:off x="737514" y="1054662"/>
            <a:ext cx="8406486" cy="2216715"/>
          </a:xfrm>
          <a:prstGeom prst="rect">
            <a:avLst/>
          </a:prstGeom>
        </p:spPr>
        <p:txBody>
          <a:bodyPr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1"/>
            <a:r>
              <a:rPr lang="en-NL" sz="6000">
                <a:solidFill>
                  <a:srgbClr val="002060"/>
                </a:solidFill>
              </a:rPr>
              <a:t>Human – AI </a:t>
            </a:r>
          </a:p>
          <a:p>
            <a:pPr hangingPunct="1"/>
            <a:r>
              <a:rPr lang="en-NL" sz="6000">
                <a:solidFill>
                  <a:srgbClr val="002060"/>
                </a:solidFill>
              </a:rPr>
              <a:t>pair programming</a:t>
            </a:r>
          </a:p>
          <a:p>
            <a:pPr hangingPunct="1"/>
            <a:endParaRPr lang="en-NL" sz="600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03449-5A02-758B-F735-963827D05791}"/>
              </a:ext>
            </a:extLst>
          </p:cNvPr>
          <p:cNvSpPr txBox="1"/>
          <p:nvPr/>
        </p:nvSpPr>
        <p:spPr>
          <a:xfrm>
            <a:off x="1157287" y="3686176"/>
            <a:ext cx="8186738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L" sz="4200">
              <a:solidFill>
                <a:srgbClr val="002060"/>
              </a:solidFill>
            </a:endParaRPr>
          </a:p>
          <a:p>
            <a:r>
              <a:rPr lang="en-NL" sz="4200">
                <a:solidFill>
                  <a:srgbClr val="002060"/>
                </a:solidFill>
              </a:rPr>
              <a:t>Work together with the AI, your new best buddy!</a:t>
            </a:r>
          </a:p>
          <a:p>
            <a:endParaRPr lang="en-NL" sz="4200">
              <a:solidFill>
                <a:srgbClr val="002060"/>
              </a:solidFill>
            </a:endParaRPr>
          </a:p>
          <a:p>
            <a:r>
              <a:rPr lang="en-NL" sz="4200">
                <a:solidFill>
                  <a:srgbClr val="002060"/>
                </a:solidFill>
              </a:rPr>
              <a:t>The AI can make mistakes, you have to guide it. Do not give up.</a:t>
            </a:r>
          </a:p>
          <a:p>
            <a:endParaRPr lang="en-NL" sz="420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99629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1A5D1-3E5D-E7B4-8E58-884DDF6C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B84937F-3B3B-58E9-0E6B-5BAB0DCBBAAB}"/>
              </a:ext>
            </a:extLst>
          </p:cNvPr>
          <p:cNvSpPr txBox="1">
            <a:spLocks/>
          </p:cNvSpPr>
          <p:nvPr/>
        </p:nvSpPr>
        <p:spPr>
          <a:xfrm>
            <a:off x="737514" y="1054662"/>
            <a:ext cx="14326437" cy="2216715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6000" i="1" dirty="0">
                <a:solidFill>
                  <a:srgbClr val="002060"/>
                </a:solidFill>
                <a:ea typeface="Calibri"/>
                <a:cs typeface="Calibri"/>
              </a:rPr>
              <a:t>But </a:t>
            </a:r>
            <a:r>
              <a:rPr lang="nl-NL" sz="6000" i="1" dirty="0" err="1">
                <a:solidFill>
                  <a:srgbClr val="002060"/>
                </a:solidFill>
                <a:ea typeface="Calibri"/>
                <a:cs typeface="Calibri"/>
              </a:rPr>
              <a:t>remember</a:t>
            </a:r>
            <a:r>
              <a:rPr lang="nl-NL" sz="6000" i="1" dirty="0">
                <a:solidFill>
                  <a:srgbClr val="002060"/>
                </a:solidFill>
                <a:ea typeface="Calibri"/>
                <a:cs typeface="Calibri"/>
              </a:rPr>
              <a:t> </a:t>
            </a:r>
            <a:r>
              <a:rPr lang="nl-NL" sz="6000" b="1" i="1" dirty="0" err="1">
                <a:solidFill>
                  <a:srgbClr val="002060"/>
                </a:solidFill>
                <a:ea typeface="Calibri"/>
                <a:cs typeface="Calibri"/>
              </a:rPr>
              <a:t>active</a:t>
            </a:r>
            <a:r>
              <a:rPr lang="nl-NL" sz="6000" b="1" i="1" dirty="0">
                <a:solidFill>
                  <a:srgbClr val="002060"/>
                </a:solidFill>
                <a:ea typeface="Calibri"/>
                <a:cs typeface="Calibri"/>
              </a:rPr>
              <a:t> </a:t>
            </a:r>
            <a:r>
              <a:rPr lang="nl-NL" sz="6000" b="1" i="1" dirty="0" err="1">
                <a:solidFill>
                  <a:srgbClr val="002060"/>
                </a:solidFill>
                <a:ea typeface="Calibri"/>
                <a:cs typeface="Calibri"/>
              </a:rPr>
              <a:t>learning</a:t>
            </a:r>
            <a:r>
              <a:rPr lang="nl-NL" sz="6000" i="1" dirty="0">
                <a:solidFill>
                  <a:srgbClr val="002060"/>
                </a:solidFill>
                <a:ea typeface="Calibri"/>
                <a:cs typeface="Calibri"/>
              </a:rPr>
              <a:t> is </a:t>
            </a:r>
            <a:r>
              <a:rPr lang="nl-NL" sz="6000" i="1" dirty="0" err="1">
                <a:solidFill>
                  <a:srgbClr val="002060"/>
                </a:solidFill>
                <a:ea typeface="Calibri"/>
                <a:cs typeface="Calibri"/>
              </a:rPr>
              <a:t>better</a:t>
            </a:r>
            <a:r>
              <a:rPr lang="nl-NL" sz="6000" i="1" dirty="0">
                <a:solidFill>
                  <a:srgbClr val="002060"/>
                </a:solidFill>
                <a:ea typeface="Calibri"/>
                <a:cs typeface="Calibri"/>
              </a:rPr>
              <a:t>!</a:t>
            </a:r>
            <a:r>
              <a:rPr lang="nl-NL" sz="6000" dirty="0">
                <a:solidFill>
                  <a:srgbClr val="002060"/>
                </a:solidFill>
                <a:ea typeface="Calibri"/>
                <a:cs typeface="Calibri"/>
              </a:rPr>
              <a:t> </a:t>
            </a:r>
            <a:endParaRPr lang="nl-NL" sz="60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nl-NL" sz="6000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960A7-6902-046E-8E2D-02C3DC6F7518}"/>
              </a:ext>
            </a:extLst>
          </p:cNvPr>
          <p:cNvSpPr txBox="1"/>
          <p:nvPr/>
        </p:nvSpPr>
        <p:spPr>
          <a:xfrm>
            <a:off x="1157287" y="3686176"/>
            <a:ext cx="14839786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4200" dirty="0" err="1">
                <a:solidFill>
                  <a:srgbClr val="002060"/>
                </a:solidFill>
                <a:ea typeface="Calibri"/>
                <a:cs typeface="Calibri"/>
              </a:rPr>
              <a:t>Eg.</a:t>
            </a:r>
            <a:r>
              <a:rPr lang="en-NL" sz="4200">
                <a:solidFill>
                  <a:srgbClr val="002060"/>
                </a:solidFill>
                <a:ea typeface="Calibri"/>
                <a:cs typeface="Calibri"/>
              </a:rPr>
              <a:t> writing code is more effective than reading code.  Why?</a:t>
            </a:r>
            <a:endParaRPr lang="en-NL" sz="4200" dirty="0">
              <a:solidFill>
                <a:srgbClr val="002060"/>
              </a:solidFill>
              <a:ea typeface="Calibri"/>
              <a:cs typeface="Calibri"/>
            </a:endParaRPr>
          </a:p>
          <a:p>
            <a:endParaRPr lang="en-NL" sz="4200" dirty="0">
              <a:solidFill>
                <a:srgbClr val="002060"/>
              </a:solidFill>
              <a:ea typeface="Calibri"/>
              <a:cs typeface="Calibri"/>
            </a:endParaRPr>
          </a:p>
          <a:p>
            <a:pPr marL="571500" indent="-571500">
              <a:buFont typeface="Arial"/>
              <a:buChar char="•"/>
            </a:pPr>
            <a:endParaRPr lang="en-NL" sz="4200">
              <a:solidFill>
                <a:srgbClr val="002060"/>
              </a:solidFill>
              <a:ea typeface="Calibri"/>
              <a:cs typeface="Calibri"/>
            </a:endParaRPr>
          </a:p>
          <a:p>
            <a:pPr marL="1257300" lvl="1" indent="-571500">
              <a:buFont typeface="Courier New"/>
              <a:buChar char="o"/>
            </a:pPr>
            <a:endParaRPr lang="en-NL" sz="420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19D1B911-06E4-3289-081E-626747F63EF5}"/>
              </a:ext>
            </a:extLst>
          </p:cNvPr>
          <p:cNvSpPr txBox="1"/>
          <p:nvPr/>
        </p:nvSpPr>
        <p:spPr>
          <a:xfrm>
            <a:off x="2561166" y="5143499"/>
            <a:ext cx="1204383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57300" lvl="1" indent="-571500">
              <a:buFont typeface="Courier New,monospace"/>
              <a:buChar char="o"/>
            </a:pPr>
            <a:r>
              <a:rPr lang="en-US" sz="4200">
                <a:solidFill>
                  <a:srgbClr val="002060"/>
                </a:solidFill>
                <a:ea typeface="Calibri"/>
                <a:cs typeface="Calibri"/>
              </a:rPr>
              <a:t>You remember it better</a:t>
            </a:r>
            <a:endParaRPr lang="en-US" sz="4200">
              <a:ea typeface="Calibri"/>
              <a:cs typeface="Calibri"/>
            </a:endParaRPr>
          </a:p>
          <a:p>
            <a:pPr marL="1257300" lvl="1" indent="-571500">
              <a:buFont typeface="Courier New,monospace"/>
              <a:buChar char="o"/>
            </a:pPr>
            <a:r>
              <a:rPr lang="en-US" sz="4200">
                <a:solidFill>
                  <a:srgbClr val="002060"/>
                </a:solidFill>
                <a:ea typeface="Calibri"/>
                <a:cs typeface="Calibri"/>
              </a:rPr>
              <a:t>You are more critical</a:t>
            </a:r>
            <a:endParaRPr lang="en-US" sz="4200">
              <a:ea typeface="Calibri"/>
              <a:cs typeface="Calibri"/>
            </a:endParaRPr>
          </a:p>
          <a:p>
            <a:pPr marL="1257300" lvl="1" indent="-571500">
              <a:buFont typeface="Courier New,monospace"/>
              <a:buChar char="o"/>
            </a:pPr>
            <a:r>
              <a:rPr lang="en-US" sz="4200">
                <a:solidFill>
                  <a:srgbClr val="002060"/>
                </a:solidFill>
                <a:ea typeface="Calibri"/>
                <a:cs typeface="Calibri"/>
              </a:rPr>
              <a:t>You are more engaged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5253B49B-2229-B30D-B3B6-966BF22E5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2" y="4053834"/>
            <a:ext cx="3711387" cy="371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A3543CD2-9881-1A80-D508-594D14765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141" y="4008991"/>
            <a:ext cx="2503955" cy="374237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A5563C58-959D-E7BC-36BA-006F28C89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376" y="4008990"/>
            <a:ext cx="5026424" cy="382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BDA1E23-7586-FD66-D39D-8E31D0734305}"/>
              </a:ext>
            </a:extLst>
          </p:cNvPr>
          <p:cNvSpPr txBox="1">
            <a:spLocks/>
          </p:cNvSpPr>
          <p:nvPr/>
        </p:nvSpPr>
        <p:spPr>
          <a:xfrm>
            <a:off x="737514" y="1054662"/>
            <a:ext cx="14326437" cy="2216715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6000" i="1">
                <a:solidFill>
                  <a:srgbClr val="002060"/>
                </a:solidFill>
              </a:rPr>
              <a:t>First </a:t>
            </a:r>
            <a:r>
              <a:rPr lang="en-NL" sz="6000" i="1" err="1">
                <a:solidFill>
                  <a:srgbClr val="002060"/>
                </a:solidFill>
              </a:rPr>
              <a:t>learn</a:t>
            </a:r>
            <a:r>
              <a:rPr lang="en-NL" sz="6000" i="1">
                <a:solidFill>
                  <a:srgbClr val="002060"/>
                </a:solidFill>
              </a:rPr>
              <a:t> </a:t>
            </a:r>
            <a:r>
              <a:rPr lang="en-NL" sz="6000" i="1" err="1">
                <a:solidFill>
                  <a:srgbClr val="002060"/>
                </a:solidFill>
              </a:rPr>
              <a:t>to</a:t>
            </a:r>
            <a:r>
              <a:rPr lang="en-NL" sz="6000" i="1">
                <a:solidFill>
                  <a:srgbClr val="002060"/>
                </a:solidFill>
              </a:rPr>
              <a:t> walk </a:t>
            </a:r>
            <a:r>
              <a:rPr lang="en-NL" sz="6000" i="1" err="1">
                <a:solidFill>
                  <a:srgbClr val="002060"/>
                </a:solidFill>
              </a:rPr>
              <a:t>before</a:t>
            </a:r>
            <a:r>
              <a:rPr lang="en-NL" sz="6000" i="1">
                <a:solidFill>
                  <a:srgbClr val="002060"/>
                </a:solidFill>
              </a:rPr>
              <a:t> </a:t>
            </a:r>
            <a:r>
              <a:rPr lang="en-NL" sz="6000" i="1" err="1">
                <a:solidFill>
                  <a:srgbClr val="002060"/>
                </a:solidFill>
              </a:rPr>
              <a:t>you</a:t>
            </a:r>
            <a:r>
              <a:rPr lang="en-NL" sz="6000" i="1">
                <a:solidFill>
                  <a:srgbClr val="002060"/>
                </a:solidFill>
              </a:rPr>
              <a:t> </a:t>
            </a:r>
            <a:r>
              <a:rPr lang="en-NL" sz="6000" i="1" err="1">
                <a:solidFill>
                  <a:srgbClr val="002060"/>
                </a:solidFill>
              </a:rPr>
              <a:t>learn</a:t>
            </a:r>
            <a:r>
              <a:rPr lang="en-NL" sz="6000" i="1">
                <a:solidFill>
                  <a:srgbClr val="002060"/>
                </a:solidFill>
              </a:rPr>
              <a:t> </a:t>
            </a:r>
            <a:r>
              <a:rPr lang="en-NL" sz="6000" i="1" err="1">
                <a:solidFill>
                  <a:srgbClr val="002060"/>
                </a:solidFill>
              </a:rPr>
              <a:t>to</a:t>
            </a:r>
            <a:r>
              <a:rPr lang="en-NL" sz="6000" i="1">
                <a:solidFill>
                  <a:srgbClr val="002060"/>
                </a:solidFill>
              </a:rPr>
              <a:t> run!</a:t>
            </a:r>
            <a:endParaRPr lang="nl-NL" sz="6000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433237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4C3E45-1BE3-4EC9-80D7-3A91A58ECE68}"/>
              </a:ext>
            </a:extLst>
          </p:cNvPr>
          <p:cNvSpPr txBox="1">
            <a:spLocks/>
          </p:cNvSpPr>
          <p:nvPr/>
        </p:nvSpPr>
        <p:spPr>
          <a:xfrm>
            <a:off x="2176847" y="1308662"/>
            <a:ext cx="14326437" cy="2216715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6000" i="1" err="1">
                <a:solidFill>
                  <a:srgbClr val="002060"/>
                </a:solidFill>
              </a:rPr>
              <a:t>To</a:t>
            </a:r>
            <a:r>
              <a:rPr lang="en-NL" sz="6000" i="1">
                <a:solidFill>
                  <a:srgbClr val="002060"/>
                </a:solidFill>
              </a:rPr>
              <a:t> do / exercises</a:t>
            </a:r>
            <a:endParaRPr lang="nl-NL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3ED6A8D9-5BB2-F1BA-F889-860154629FC2}"/>
              </a:ext>
            </a:extLst>
          </p:cNvPr>
          <p:cNvSpPr txBox="1"/>
          <p:nvPr/>
        </p:nvSpPr>
        <p:spPr>
          <a:xfrm>
            <a:off x="1862667" y="2942167"/>
            <a:ext cx="16404165" cy="78175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4400" b="1">
                <a:ea typeface="Calibri"/>
                <a:cs typeface="Calibri"/>
              </a:rPr>
              <a:t>Beginners:</a:t>
            </a:r>
            <a:endParaRPr lang="nl-NL"/>
          </a:p>
          <a:p>
            <a:pPr marL="285750" indent="-285750">
              <a:buFont typeface="Calibri"/>
              <a:buChar char="-"/>
            </a:pPr>
            <a:r>
              <a:rPr lang="nl-NL" sz="4400">
                <a:ea typeface="Calibri"/>
                <a:cs typeface="Calibri"/>
              </a:rPr>
              <a:t>Set up </a:t>
            </a:r>
            <a:r>
              <a:rPr lang="nl-NL" sz="4400" dirty="0" err="1">
                <a:ea typeface="Calibri"/>
                <a:cs typeface="Calibri"/>
              </a:rPr>
              <a:t>Copilot</a:t>
            </a:r>
            <a:r>
              <a:rPr lang="nl-NL" sz="4400">
                <a:ea typeface="Calibri"/>
                <a:cs typeface="Calibri"/>
              </a:rPr>
              <a:t> in VS Code (</a:t>
            </a:r>
            <a:r>
              <a:rPr lang="nl-NL" sz="4400" dirty="0" err="1">
                <a:ea typeface="Calibri"/>
                <a:cs typeface="Calibri"/>
              </a:rPr>
              <a:t>ask</a:t>
            </a:r>
            <a:r>
              <a:rPr lang="nl-NL" sz="4400">
                <a:ea typeface="Calibri"/>
                <a:cs typeface="Calibri"/>
              </a:rPr>
              <a:t> </a:t>
            </a:r>
            <a:r>
              <a:rPr lang="nl-NL" sz="4400" dirty="0" err="1">
                <a:ea typeface="Calibri"/>
                <a:cs typeface="Calibri"/>
              </a:rPr>
              <a:t>your</a:t>
            </a:r>
            <a:r>
              <a:rPr lang="nl-NL" sz="4400">
                <a:ea typeface="Calibri"/>
                <a:cs typeface="Calibri"/>
              </a:rPr>
              <a:t> </a:t>
            </a:r>
            <a:r>
              <a:rPr lang="nl-NL" sz="4400" dirty="0" err="1">
                <a:ea typeface="Calibri"/>
                <a:cs typeface="Calibri"/>
              </a:rPr>
              <a:t>favorite</a:t>
            </a:r>
            <a:r>
              <a:rPr lang="nl-NL" sz="4400">
                <a:ea typeface="Calibri"/>
                <a:cs typeface="Calibri"/>
              </a:rPr>
              <a:t> AI </a:t>
            </a:r>
            <a:r>
              <a:rPr lang="nl-NL" sz="4400" dirty="0" err="1">
                <a:ea typeface="Calibri"/>
                <a:cs typeface="Calibri"/>
              </a:rPr>
              <a:t>to</a:t>
            </a:r>
            <a:r>
              <a:rPr lang="nl-NL" sz="4400">
                <a:ea typeface="Calibri"/>
                <a:cs typeface="Calibri"/>
              </a:rPr>
              <a:t> help </a:t>
            </a:r>
            <a:r>
              <a:rPr lang="nl-NL" sz="4400" dirty="0" err="1">
                <a:ea typeface="Calibri"/>
                <a:cs typeface="Calibri"/>
              </a:rPr>
              <a:t>you</a:t>
            </a:r>
            <a:r>
              <a:rPr lang="nl-NL" sz="4400">
                <a:ea typeface="Calibri"/>
                <a:cs typeface="Calibri"/>
              </a:rPr>
              <a:t> out)</a:t>
            </a:r>
            <a:endParaRPr lang="nl-NL"/>
          </a:p>
          <a:p>
            <a:pPr marL="285750" indent="-285750">
              <a:buFont typeface="Calibri"/>
              <a:buChar char="-"/>
            </a:pPr>
            <a:r>
              <a:rPr lang="nl-NL" sz="4400">
                <a:ea typeface="Calibri"/>
                <a:cs typeface="Calibri"/>
              </a:rPr>
              <a:t>Write code </a:t>
            </a:r>
            <a:r>
              <a:rPr lang="nl-NL" sz="4400" dirty="0" err="1">
                <a:ea typeface="Calibri"/>
                <a:cs typeface="Calibri"/>
              </a:rPr>
              <a:t>to</a:t>
            </a:r>
            <a:r>
              <a:rPr lang="nl-NL" sz="4400">
                <a:ea typeface="Calibri"/>
                <a:cs typeface="Calibri"/>
              </a:rPr>
              <a:t> </a:t>
            </a:r>
            <a:r>
              <a:rPr lang="nl-NL" sz="4400" dirty="0" err="1">
                <a:ea typeface="Calibri"/>
                <a:cs typeface="Calibri"/>
              </a:rPr>
              <a:t>calculate</a:t>
            </a:r>
            <a:r>
              <a:rPr lang="nl-NL" sz="4400">
                <a:ea typeface="Calibri"/>
                <a:cs typeface="Calibri"/>
              </a:rPr>
              <a:t> </a:t>
            </a:r>
            <a:r>
              <a:rPr lang="nl-NL" sz="4400" dirty="0" err="1">
                <a:ea typeface="Calibri"/>
                <a:cs typeface="Calibri"/>
              </a:rPr>
              <a:t>fibonacci</a:t>
            </a:r>
            <a:r>
              <a:rPr lang="nl-NL" sz="4400">
                <a:ea typeface="Calibri"/>
                <a:cs typeface="Calibri"/>
              </a:rPr>
              <a:t> </a:t>
            </a:r>
            <a:r>
              <a:rPr lang="nl-NL" sz="4400" dirty="0" err="1">
                <a:ea typeface="Calibri"/>
                <a:cs typeface="Calibri"/>
              </a:rPr>
              <a:t>numbers</a:t>
            </a:r>
            <a:r>
              <a:rPr lang="nl-NL" sz="4400">
                <a:ea typeface="Calibri"/>
                <a:cs typeface="Calibri"/>
              </a:rPr>
              <a:t> </a:t>
            </a:r>
            <a:endParaRPr lang="nl-NL"/>
          </a:p>
          <a:p>
            <a:pPr marL="285750" indent="-285750">
              <a:buFont typeface="Calibri"/>
              <a:buChar char="-"/>
            </a:pPr>
            <a:endParaRPr lang="nl-NL"/>
          </a:p>
          <a:p>
            <a:r>
              <a:rPr lang="nl-NL" sz="4400" b="1" dirty="0" err="1">
                <a:ea typeface="Calibri"/>
                <a:cs typeface="Calibri"/>
              </a:rPr>
              <a:t>Experienced</a:t>
            </a:r>
          </a:p>
          <a:p>
            <a:pPr marL="571500" indent="-571500">
              <a:buFont typeface="Calibri"/>
              <a:buChar char="-"/>
            </a:pPr>
            <a:r>
              <a:rPr lang="nl-NL" sz="4400" dirty="0" err="1">
                <a:ea typeface="Calibri"/>
                <a:cs typeface="Calibri"/>
              </a:rPr>
              <a:t>Compare</a:t>
            </a:r>
            <a:r>
              <a:rPr lang="nl-NL" sz="4400">
                <a:ea typeface="Calibri"/>
                <a:cs typeface="Calibri"/>
              </a:rPr>
              <a:t> code </a:t>
            </a:r>
            <a:r>
              <a:rPr lang="nl-NL" sz="4400" dirty="0" err="1">
                <a:ea typeface="Calibri"/>
                <a:cs typeface="Calibri"/>
              </a:rPr>
              <a:t>from</a:t>
            </a:r>
            <a:r>
              <a:rPr lang="nl-NL" sz="4400">
                <a:ea typeface="Calibri"/>
                <a:cs typeface="Calibri"/>
              </a:rPr>
              <a:t>:</a:t>
            </a:r>
            <a:endParaRPr lang="nl-NL"/>
          </a:p>
          <a:p>
            <a:pPr marL="1028700" lvl="1" indent="-571500">
              <a:buFont typeface="Courier New"/>
              <a:buChar char="o"/>
            </a:pPr>
            <a:r>
              <a:rPr lang="nl-NL" sz="4400">
                <a:ea typeface="Calibri"/>
                <a:cs typeface="Calibri"/>
              </a:rPr>
              <a:t>Claude.ai </a:t>
            </a:r>
            <a:r>
              <a:rPr lang="nl-NL" sz="4400" dirty="0" err="1">
                <a:ea typeface="Calibri"/>
                <a:cs typeface="Calibri"/>
              </a:rPr>
              <a:t>vs</a:t>
            </a:r>
            <a:r>
              <a:rPr lang="nl-NL" sz="4400">
                <a:ea typeface="Calibri"/>
                <a:cs typeface="Calibri"/>
              </a:rPr>
              <a:t> </a:t>
            </a:r>
            <a:r>
              <a:rPr lang="nl-NL" sz="4400" dirty="0" err="1">
                <a:ea typeface="Calibri"/>
                <a:cs typeface="Calibri"/>
              </a:rPr>
              <a:t>Copilot</a:t>
            </a:r>
            <a:endParaRPr lang="nl-NL" dirty="0"/>
          </a:p>
          <a:p>
            <a:pPr marL="1028700" lvl="1" indent="-571500">
              <a:buFont typeface="Courier New"/>
              <a:buChar char="o"/>
            </a:pPr>
            <a:r>
              <a:rPr lang="nl-NL" sz="4400" dirty="0" err="1">
                <a:ea typeface="Calibri"/>
                <a:cs typeface="Calibri"/>
              </a:rPr>
              <a:t>Try</a:t>
            </a:r>
            <a:r>
              <a:rPr lang="nl-NL" sz="4400">
                <a:ea typeface="Calibri"/>
                <a:cs typeface="Calibri"/>
              </a:rPr>
              <a:t> </a:t>
            </a:r>
            <a:r>
              <a:rPr lang="nl-NL" sz="4400" dirty="0" err="1">
                <a:ea typeface="Calibri"/>
                <a:cs typeface="Calibri"/>
              </a:rPr>
              <a:t>uploading</a:t>
            </a:r>
            <a:r>
              <a:rPr lang="nl-NL" sz="4400">
                <a:ea typeface="Calibri"/>
                <a:cs typeface="Calibri"/>
              </a:rPr>
              <a:t> </a:t>
            </a:r>
            <a:r>
              <a:rPr lang="nl-NL" sz="4400" dirty="0" err="1">
                <a:ea typeface="Calibri"/>
                <a:cs typeface="Calibri"/>
              </a:rPr>
              <a:t>an</a:t>
            </a:r>
            <a:r>
              <a:rPr lang="nl-NL" sz="4400">
                <a:ea typeface="Calibri"/>
                <a:cs typeface="Calibri"/>
              </a:rPr>
              <a:t> image </a:t>
            </a:r>
            <a:r>
              <a:rPr lang="nl-NL" sz="4400" dirty="0" err="1">
                <a:ea typeface="Calibri"/>
                <a:cs typeface="Calibri"/>
              </a:rPr>
              <a:t>to</a:t>
            </a:r>
            <a:r>
              <a:rPr lang="nl-NL" sz="4400">
                <a:ea typeface="Calibri"/>
                <a:cs typeface="Calibri"/>
              </a:rPr>
              <a:t> </a:t>
            </a:r>
            <a:r>
              <a:rPr lang="nl-NL" sz="4400" dirty="0" err="1">
                <a:ea typeface="Calibri"/>
                <a:cs typeface="Calibri"/>
              </a:rPr>
              <a:t>create</a:t>
            </a:r>
            <a:r>
              <a:rPr lang="nl-NL" sz="4400">
                <a:ea typeface="Calibri"/>
                <a:cs typeface="Calibri"/>
              </a:rPr>
              <a:t> code</a:t>
            </a:r>
          </a:p>
          <a:p>
            <a:pPr marL="1028700" lvl="1" indent="-571500">
              <a:buFont typeface="Courier New"/>
              <a:buChar char="o"/>
            </a:pPr>
            <a:r>
              <a:rPr lang="nl-NL" sz="4400" dirty="0" err="1">
                <a:ea typeface="Calibri"/>
                <a:cs typeface="Calibri"/>
              </a:rPr>
              <a:t>Try</a:t>
            </a:r>
            <a:r>
              <a:rPr lang="nl-NL" sz="4400" dirty="0">
                <a:ea typeface="Calibri"/>
                <a:cs typeface="Calibri"/>
              </a:rPr>
              <a:t> </a:t>
            </a:r>
            <a:r>
              <a:rPr lang="nl-NL" sz="4400" dirty="0" err="1">
                <a:ea typeface="Calibri"/>
                <a:cs typeface="Calibri"/>
              </a:rPr>
              <a:t>to</a:t>
            </a:r>
            <a:r>
              <a:rPr lang="nl-NL" sz="4400" dirty="0">
                <a:ea typeface="Calibri"/>
                <a:cs typeface="Calibri"/>
              </a:rPr>
              <a:t> </a:t>
            </a:r>
            <a:r>
              <a:rPr lang="nl-NL" sz="4400" dirty="0" err="1">
                <a:ea typeface="Calibri"/>
                <a:cs typeface="Calibri"/>
              </a:rPr>
              <a:t>create</a:t>
            </a:r>
            <a:r>
              <a:rPr lang="nl-NL" sz="4400" dirty="0">
                <a:ea typeface="Calibri"/>
                <a:cs typeface="Calibri"/>
              </a:rPr>
              <a:t> a front-end app </a:t>
            </a:r>
            <a:r>
              <a:rPr lang="nl-NL" sz="4400" dirty="0" err="1">
                <a:ea typeface="Calibri"/>
                <a:cs typeface="Calibri"/>
              </a:rPr>
              <a:t>with</a:t>
            </a:r>
            <a:r>
              <a:rPr lang="nl-NL" sz="4400" dirty="0">
                <a:ea typeface="Calibri"/>
                <a:cs typeface="Calibri"/>
              </a:rPr>
              <a:t> HTML / JS / CSS (= multiple files)</a:t>
            </a:r>
            <a:endParaRPr lang="nl-NL" dirty="0"/>
          </a:p>
          <a:p>
            <a:pPr marL="1028700" lvl="1" indent="-571500">
              <a:buFont typeface="Courier New"/>
              <a:buChar char="o"/>
            </a:pPr>
            <a:endParaRPr lang="nl-NL" sz="4400" dirty="0">
              <a:ea typeface="Calibri"/>
              <a:cs typeface="Calibri"/>
            </a:endParaRPr>
          </a:p>
          <a:p>
            <a:pPr lvl="1"/>
            <a:endParaRPr lang="nl-NL" sz="4400" dirty="0">
              <a:ea typeface="Calibri"/>
              <a:cs typeface="Calibri"/>
            </a:endParaRPr>
          </a:p>
          <a:p>
            <a:pPr marL="1028700" lvl="1" indent="-571500">
              <a:buFont typeface="Courier New"/>
              <a:buChar char="o"/>
            </a:pPr>
            <a:endParaRPr lang="nl-NL" sz="4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729294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tekst, schermopname, software, Webpagina&#10;&#10;Door AI gegenereerde inhoud is mogelijk onjuist.">
            <a:extLst>
              <a:ext uri="{FF2B5EF4-FFF2-40B4-BE49-F238E27FC236}">
                <a16:creationId xmlns:a16="http://schemas.microsoft.com/office/drawing/2014/main" id="{7590ADF1-06FF-98A9-1DC1-98114E73B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1" y="0"/>
            <a:ext cx="1821017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3578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0E6F1-AB61-83F0-E79B-F36C3F4D3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3B2C2490-35F7-7F5B-A505-D5F958B77001}"/>
              </a:ext>
            </a:extLst>
          </p:cNvPr>
          <p:cNvSpPr/>
          <p:nvPr/>
        </p:nvSpPr>
        <p:spPr>
          <a:xfrm>
            <a:off x="-2173" y="2263"/>
            <a:ext cx="18290896" cy="10282472"/>
          </a:xfrm>
          <a:prstGeom prst="rect">
            <a:avLst/>
          </a:prstGeom>
          <a:solidFill>
            <a:srgbClr val="98480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016D6A55-9145-4520-9FDA-B423663695A0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-139751" y="305003"/>
            <a:ext cx="2036336" cy="1763467"/>
            <a:chOff x="0" y="0"/>
            <a:chExt cx="6350000" cy="5499100"/>
          </a:xfrm>
          <a:solidFill>
            <a:srgbClr val="F08026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3621D0DA-EA81-903A-8B86-A8F410E91833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0843105B-8070-0AB4-7FE0-A5F3D55FA0B6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10200" y="1764038"/>
            <a:ext cx="1018168" cy="881733"/>
            <a:chOff x="0" y="0"/>
            <a:chExt cx="6350000" cy="5499100"/>
          </a:xfrm>
          <a:solidFill>
            <a:srgbClr val="F08026"/>
          </a:solidFill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6F0FB40D-8CBC-8FD7-3E9B-3E47EB49E1D3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/>
            </a:p>
          </p:txBody>
        </p:sp>
      </p:grpSp>
      <p:pic>
        <p:nvPicPr>
          <p:cNvPr id="11" name="Tijdelijke aanduiding voor afbeelding 3">
            <a:extLst>
              <a:ext uri="{FF2B5EF4-FFF2-40B4-BE49-F238E27FC236}">
                <a16:creationId xmlns:a16="http://schemas.microsoft.com/office/drawing/2014/main" id="{CA0E1FF1-C658-3F1D-E543-FEEEE2ED2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" r="122"/>
          <a:stretch>
            <a:fillRect/>
          </a:stretch>
        </p:blipFill>
        <p:spPr>
          <a:xfrm>
            <a:off x="12117482" y="-221227"/>
            <a:ext cx="6822419" cy="1470024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E16608AC-5951-6DCE-16AB-7FDFE07DC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429" y="5139897"/>
            <a:ext cx="1475377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sz="7200">
                <a:solidFill>
                  <a:schemeClr val="bg1"/>
                </a:solidFill>
                <a:ea typeface="Calibri"/>
                <a:cs typeface="Calibri"/>
              </a:rPr>
              <a:t>Data Exploration </a:t>
            </a:r>
            <a:r>
              <a:rPr lang="nl-NL" sz="7200" err="1">
                <a:solidFill>
                  <a:schemeClr val="bg1"/>
                </a:solidFill>
                <a:ea typeface="Calibri"/>
                <a:cs typeface="Calibri"/>
              </a:rPr>
              <a:t>and</a:t>
            </a:r>
            <a:r>
              <a:rPr lang="nl-NL" sz="72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nl-NL" sz="7200" err="1">
                <a:solidFill>
                  <a:schemeClr val="bg1"/>
                </a:solidFill>
                <a:ea typeface="Calibri"/>
                <a:cs typeface="Calibri"/>
              </a:rPr>
              <a:t>Initial</a:t>
            </a:r>
            <a:r>
              <a:rPr lang="nl-NL" sz="7200">
                <a:solidFill>
                  <a:schemeClr val="bg1"/>
                </a:solidFill>
                <a:ea typeface="Calibri"/>
                <a:cs typeface="Calibri"/>
              </a:rPr>
              <a:t> Analysis</a:t>
            </a:r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C25A0087-E1BC-4232-B145-2D49CA709AC7}"/>
              </a:ext>
            </a:extLst>
          </p:cNvPr>
          <p:cNvSpPr/>
          <p:nvPr/>
        </p:nvSpPr>
        <p:spPr>
          <a:xfrm>
            <a:off x="12828650" y="4001224"/>
            <a:ext cx="909150" cy="911141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800" b="1">
                <a:solidFill>
                  <a:schemeClr val="accent6"/>
                </a:solidFill>
                <a:ea typeface="Calibri"/>
                <a:cs typeface="Calibri"/>
              </a:rPr>
              <a:t>A2</a:t>
            </a:r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549C4A6E-F35D-E272-09C1-27A73CAB781B}"/>
              </a:ext>
            </a:extLst>
          </p:cNvPr>
          <p:cNvSpPr/>
          <p:nvPr/>
        </p:nvSpPr>
        <p:spPr>
          <a:xfrm>
            <a:off x="13845725" y="4001224"/>
            <a:ext cx="909150" cy="911141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l-NL" sz="2800" b="1">
                <a:solidFill>
                  <a:schemeClr val="accent6"/>
                </a:solidFill>
                <a:ea typeface="Calibri"/>
                <a:cs typeface="Calibri"/>
              </a:rPr>
              <a:t>B1</a:t>
            </a:r>
            <a:endParaRPr lang="nl-NL" sz="1600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F0240C26-53BB-BEC0-FFA6-85F337845445}"/>
              </a:ext>
            </a:extLst>
          </p:cNvPr>
          <p:cNvSpPr/>
          <p:nvPr/>
        </p:nvSpPr>
        <p:spPr>
          <a:xfrm>
            <a:off x="14862801" y="4001223"/>
            <a:ext cx="909150" cy="911141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l-NL" sz="2800" b="1">
                <a:solidFill>
                  <a:schemeClr val="accent6"/>
                </a:solidFill>
                <a:ea typeface="Calibri"/>
                <a:cs typeface="Calibri"/>
              </a:rPr>
              <a:t>D1</a:t>
            </a:r>
            <a:endParaRPr lang="nl-NL" sz="1600"/>
          </a:p>
        </p:txBody>
      </p:sp>
    </p:spTree>
    <p:extLst>
      <p:ext uri="{BB962C8B-B14F-4D97-AF65-F5344CB8AC3E}">
        <p14:creationId xmlns:p14="http://schemas.microsoft.com/office/powerpoint/2010/main" val="4039276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0F0FC-DBB3-70D7-A43E-435B57B7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3FDD9D1-59B9-94F3-BFD1-8210C78BFDC0}"/>
              </a:ext>
            </a:extLst>
          </p:cNvPr>
          <p:cNvSpPr/>
          <p:nvPr/>
        </p:nvSpPr>
        <p:spPr>
          <a:xfrm>
            <a:off x="-2173" y="2263"/>
            <a:ext cx="18290896" cy="10282472"/>
          </a:xfrm>
          <a:prstGeom prst="rect">
            <a:avLst/>
          </a:prstGeom>
          <a:solidFill>
            <a:srgbClr val="98480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7C5AE0B3-D86D-5298-7AEE-31C8CE231DF5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-139751" y="305003"/>
            <a:ext cx="2036336" cy="1763467"/>
            <a:chOff x="0" y="0"/>
            <a:chExt cx="6350000" cy="5499100"/>
          </a:xfrm>
          <a:solidFill>
            <a:srgbClr val="F08026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0BD92AE6-C595-5595-AD5E-FB9E5C5CB816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DE51F250-CA1A-24D5-D557-09688FA40007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10200" y="1764038"/>
            <a:ext cx="1018168" cy="881733"/>
            <a:chOff x="0" y="0"/>
            <a:chExt cx="6350000" cy="5499100"/>
          </a:xfrm>
          <a:solidFill>
            <a:srgbClr val="F08026"/>
          </a:solidFill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F6AF815A-D4C0-4618-86F7-6AE4F2F07DDA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/>
            </a:p>
          </p:txBody>
        </p:sp>
      </p:grpSp>
      <p:pic>
        <p:nvPicPr>
          <p:cNvPr id="11" name="Tijdelijke aanduiding voor afbeelding 3">
            <a:extLst>
              <a:ext uri="{FF2B5EF4-FFF2-40B4-BE49-F238E27FC236}">
                <a16:creationId xmlns:a16="http://schemas.microsoft.com/office/drawing/2014/main" id="{FA9E389C-768B-DFD1-8458-8A7F0936BF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" r="122"/>
          <a:stretch>
            <a:fillRect/>
          </a:stretch>
        </p:blipFill>
        <p:spPr>
          <a:xfrm>
            <a:off x="12117482" y="-221227"/>
            <a:ext cx="6822419" cy="1470024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DC44780A-B488-3EA5-89D0-98C2C5B76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6290" y="2669966"/>
            <a:ext cx="14740633" cy="1576552"/>
          </a:xfrm>
        </p:spPr>
        <p:txBody>
          <a:bodyPr>
            <a:normAutofit/>
          </a:bodyPr>
          <a:lstStyle/>
          <a:p>
            <a:r>
              <a:rPr lang="nl-NL" sz="2800">
                <a:solidFill>
                  <a:schemeClr val="bg1"/>
                </a:solidFill>
                <a:ea typeface="+mj-lt"/>
                <a:cs typeface="+mj-lt"/>
              </a:rPr>
              <a:t>Je stelt voor een AI-oplossing juridische, ethische, organisatorische, functionele en technische </a:t>
            </a:r>
            <a:r>
              <a:rPr lang="nl-NL" sz="2800" err="1">
                <a:solidFill>
                  <a:schemeClr val="bg1"/>
                </a:solidFill>
                <a:ea typeface="+mj-lt"/>
                <a:cs typeface="+mj-lt"/>
              </a:rPr>
              <a:t>requirements</a:t>
            </a:r>
            <a:r>
              <a:rPr lang="nl-NL" sz="2800">
                <a:solidFill>
                  <a:schemeClr val="bg1"/>
                </a:solidFill>
                <a:ea typeface="+mj-lt"/>
                <a:cs typeface="+mj-lt"/>
              </a:rPr>
              <a:t> op.</a:t>
            </a: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AB250FBA-693A-2C3A-AA1C-6265672A3FA5}"/>
              </a:ext>
            </a:extLst>
          </p:cNvPr>
          <p:cNvSpPr/>
          <p:nvPr/>
        </p:nvSpPr>
        <p:spPr>
          <a:xfrm>
            <a:off x="846857" y="3002742"/>
            <a:ext cx="909150" cy="911141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800" b="1">
                <a:solidFill>
                  <a:schemeClr val="accent6"/>
                </a:solidFill>
                <a:ea typeface="Calibri"/>
                <a:cs typeface="Calibri"/>
              </a:rPr>
              <a:t>A2</a:t>
            </a:r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C8A1869E-077C-3468-8A5C-343C110F471C}"/>
              </a:ext>
            </a:extLst>
          </p:cNvPr>
          <p:cNvSpPr/>
          <p:nvPr/>
        </p:nvSpPr>
        <p:spPr>
          <a:xfrm>
            <a:off x="878587" y="5147509"/>
            <a:ext cx="909150" cy="911141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l-NL" sz="2800" b="1">
                <a:solidFill>
                  <a:schemeClr val="accent6"/>
                </a:solidFill>
                <a:ea typeface="Calibri"/>
                <a:cs typeface="Calibri"/>
              </a:rPr>
              <a:t>B1</a:t>
            </a:r>
            <a:endParaRPr lang="nl-NL" sz="1600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4878F061-78E8-11F9-EA61-257223DBA7E9}"/>
              </a:ext>
            </a:extLst>
          </p:cNvPr>
          <p:cNvSpPr/>
          <p:nvPr/>
        </p:nvSpPr>
        <p:spPr>
          <a:xfrm>
            <a:off x="844629" y="7298843"/>
            <a:ext cx="909150" cy="911141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nl-NL" sz="2800" b="1">
                <a:solidFill>
                  <a:schemeClr val="accent6"/>
                </a:solidFill>
                <a:ea typeface="Calibri"/>
                <a:cs typeface="Calibri"/>
              </a:rPr>
              <a:t>D1</a:t>
            </a:r>
            <a:endParaRPr lang="nl-NL" sz="1600"/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3F6E40FA-7BC9-2B14-6940-00BDFF6B9AB2}"/>
              </a:ext>
            </a:extLst>
          </p:cNvPr>
          <p:cNvSpPr txBox="1">
            <a:spLocks/>
          </p:cNvSpPr>
          <p:nvPr/>
        </p:nvSpPr>
        <p:spPr>
          <a:xfrm>
            <a:off x="2508073" y="4820270"/>
            <a:ext cx="14740633" cy="1576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800">
                <a:solidFill>
                  <a:schemeClr val="bg1"/>
                </a:solidFill>
                <a:ea typeface="+mj-lt"/>
                <a:cs typeface="+mj-lt"/>
              </a:rPr>
              <a:t>Je verkent en prepareert een dataset voor het trainen en testen van een AI-model en kan de voor- en nadelen van het gebruik van een bestaande dataset onderbouwen, rekening houdend met technische en ethische randvoorwaarden.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2" name="Titel 5">
            <a:extLst>
              <a:ext uri="{FF2B5EF4-FFF2-40B4-BE49-F238E27FC236}">
                <a16:creationId xmlns:a16="http://schemas.microsoft.com/office/drawing/2014/main" id="{8322F1DB-BFC8-A88B-CEAE-39E8663DACC5}"/>
              </a:ext>
            </a:extLst>
          </p:cNvPr>
          <p:cNvSpPr txBox="1">
            <a:spLocks/>
          </p:cNvSpPr>
          <p:nvPr/>
        </p:nvSpPr>
        <p:spPr>
          <a:xfrm>
            <a:off x="2494465" y="6970198"/>
            <a:ext cx="14740633" cy="1576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800">
                <a:solidFill>
                  <a:schemeClr val="bg1"/>
                </a:solidFill>
                <a:ea typeface="+mj-lt"/>
                <a:cs typeface="+mj-lt"/>
              </a:rPr>
              <a:t>Je verzamelt en verwerkt actief feedback over de eigen kennis, vaardigheden en ontwikkeling en laat zien deze feedback te kunnen gebruiken om je werk te verbeteren.</a:t>
            </a:r>
            <a:endParaRPr lang="nl-NL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3478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834B5-BE10-22F8-BE8A-70D20F6D3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B194D5C-B99F-217C-CC0D-AFD60C31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115" y="613244"/>
            <a:ext cx="14753770" cy="1143000"/>
          </a:xfrm>
        </p:spPr>
        <p:txBody>
          <a:bodyPr/>
          <a:lstStyle/>
          <a:p>
            <a:r>
              <a:rPr lang="en-US">
                <a:ea typeface="Calibri"/>
                <a:cs typeface="Calibri"/>
              </a:rPr>
              <a:t>The life-cycle of </a:t>
            </a:r>
            <a:r>
              <a:rPr lang="en-US" err="1">
                <a:ea typeface="Calibri"/>
                <a:cs typeface="Calibri"/>
              </a:rPr>
              <a:t>MLOps</a:t>
            </a:r>
            <a:r>
              <a:rPr lang="en-US">
                <a:ea typeface="Calibri"/>
                <a:cs typeface="Calibri"/>
              </a:rPr>
              <a:t>: CRISPML(Q)</a:t>
            </a:r>
          </a:p>
        </p:txBody>
      </p:sp>
      <p:pic>
        <p:nvPicPr>
          <p:cNvPr id="6" name="Afbeelding 5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D2E2818C-3528-2577-C7C8-D8393CE18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733" y="2812211"/>
            <a:ext cx="13344534" cy="6538823"/>
          </a:xfrm>
          <a:prstGeom prst="rect">
            <a:avLst/>
          </a:prstGeom>
          <a:noFill/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015D6E64-66FC-5394-51AF-FCD24F90EC9E}"/>
              </a:ext>
            </a:extLst>
          </p:cNvPr>
          <p:cNvSpPr/>
          <p:nvPr/>
        </p:nvSpPr>
        <p:spPr>
          <a:xfrm>
            <a:off x="2745827" y="3034862"/>
            <a:ext cx="2956034" cy="6319344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7948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4862-8E2B-B0CA-64AE-B214ABED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BF42158-643F-946E-9228-B7609F6A5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929" y="2250618"/>
            <a:ext cx="7772400" cy="1470025"/>
          </a:xfrm>
        </p:spPr>
        <p:txBody>
          <a:bodyPr/>
          <a:lstStyle/>
          <a:p>
            <a:r>
              <a:rPr lang="en-US" b="1">
                <a:solidFill>
                  <a:srgbClr val="000000"/>
                </a:solidFill>
                <a:ea typeface="Calibri"/>
                <a:cs typeface="Calibri"/>
              </a:rPr>
              <a:t>Choosing a dataset</a:t>
            </a:r>
            <a:endParaRPr lang="nl-NL" b="1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6C00249-1D80-21B6-10DD-D35CDABD1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3156" y="3872553"/>
            <a:ext cx="14748163" cy="4384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l">
              <a:buChar char="•"/>
            </a:pP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Always first concern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yourself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with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</a:t>
            </a:r>
            <a:r>
              <a:rPr lang="nl-NL" b="1">
                <a:solidFill>
                  <a:schemeClr val="accent6"/>
                </a:solidFill>
                <a:ea typeface="Calibri"/>
                <a:cs typeface="Calibri"/>
              </a:rPr>
              <a:t>Data </a:t>
            </a:r>
            <a:r>
              <a:rPr lang="nl-NL" b="1" err="1">
                <a:solidFill>
                  <a:schemeClr val="accent6"/>
                </a:solidFill>
                <a:ea typeface="Calibri"/>
                <a:cs typeface="Calibri"/>
              </a:rPr>
              <a:t>Provenance</a:t>
            </a:r>
            <a:endParaRPr lang="nl-NL" b="1">
              <a:solidFill>
                <a:schemeClr val="accent6"/>
              </a:solidFill>
              <a:ea typeface="Calibri"/>
              <a:cs typeface="Calibri"/>
            </a:endParaRP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Source,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collection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process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,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might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any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of these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be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biased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?</a:t>
            </a:r>
            <a:br>
              <a:rPr lang="en-US"/>
            </a:br>
            <a:endParaRPr lang="nl-NL">
              <a:solidFill>
                <a:schemeClr val="accent6"/>
              </a:solidFill>
              <a:ea typeface="Calibri"/>
              <a:cs typeface="Calibri"/>
            </a:endParaRPr>
          </a:p>
          <a:p>
            <a:pPr marL="457200" indent="-457200" algn="l">
              <a:buChar char="•"/>
            </a:pP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Then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, check </a:t>
            </a:r>
            <a:r>
              <a:rPr lang="nl-NL" b="1">
                <a:solidFill>
                  <a:schemeClr val="accent6"/>
                </a:solidFill>
                <a:ea typeface="Calibri"/>
                <a:cs typeface="Calibri"/>
              </a:rPr>
              <a:t>Data </a:t>
            </a:r>
            <a:r>
              <a:rPr lang="nl-NL" b="1" err="1">
                <a:solidFill>
                  <a:schemeClr val="accent6"/>
                </a:solidFill>
                <a:ea typeface="Calibri"/>
                <a:cs typeface="Calibri"/>
              </a:rPr>
              <a:t>Description</a:t>
            </a: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Size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, Contents, Label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quality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(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especially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target feature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for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age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estimation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!)</a:t>
            </a:r>
          </a:p>
          <a:p>
            <a:pPr marL="457200" indent="-457200" algn="l">
              <a:buFont typeface="Arial" pitchFamily="34" charset="0"/>
              <a:buChar char="•"/>
            </a:pPr>
            <a:endParaRPr lang="nl-NL">
              <a:solidFill>
                <a:schemeClr val="accent6"/>
              </a:solidFill>
              <a:ea typeface="Calibri"/>
              <a:cs typeface="Calibri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Where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?</a:t>
            </a: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Similar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Research, 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, 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Huggingface</a:t>
            </a:r>
            <a:endParaRPr lang="nl-NL">
              <a:solidFill>
                <a:schemeClr val="accent6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3337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BB28A-9721-BA65-6289-9E5F84A49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224D4FD-94CE-64E6-F383-B989EDFFA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3156" y="2406482"/>
            <a:ext cx="8794172" cy="1470025"/>
          </a:xfrm>
        </p:spPr>
        <p:txBody>
          <a:bodyPr/>
          <a:lstStyle/>
          <a:p>
            <a:r>
              <a:rPr lang="en-US" b="1">
                <a:solidFill>
                  <a:srgbClr val="000000"/>
                </a:solidFill>
                <a:ea typeface="Calibri"/>
                <a:cs typeface="Calibri"/>
              </a:rPr>
              <a:t>Initial Exploration and </a:t>
            </a:r>
            <a:r>
              <a:rPr lang="en-US" b="1" u="sng" err="1">
                <a:solidFill>
                  <a:srgbClr val="000000"/>
                </a:solidFill>
                <a:ea typeface="Calibri"/>
                <a:cs typeface="Calibri"/>
              </a:rPr>
              <a:t>Visualisation</a:t>
            </a:r>
            <a:endParaRPr lang="nl-NL" u="sng" err="1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5B84B8C-9389-F56D-A110-183D05DA2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3156" y="3872553"/>
            <a:ext cx="14748163" cy="606482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7200" indent="-457200" algn="l">
              <a:buChar char="•"/>
            </a:pPr>
            <a:r>
              <a:rPr lang="nl-NL" b="1" err="1">
                <a:solidFill>
                  <a:schemeClr val="accent6"/>
                </a:solidFill>
                <a:ea typeface="Calibri"/>
                <a:cs typeface="Calibri"/>
              </a:rPr>
              <a:t>Visualisation</a:t>
            </a:r>
            <a:r>
              <a:rPr lang="nl-NL" b="1">
                <a:solidFill>
                  <a:schemeClr val="accent6"/>
                </a:solidFill>
                <a:ea typeface="Calibri"/>
                <a:cs typeface="Calibri"/>
              </a:rPr>
              <a:t> 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is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an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</a:t>
            </a:r>
            <a:r>
              <a:rPr lang="nl-NL" b="1" err="1">
                <a:solidFill>
                  <a:schemeClr val="accent6"/>
                </a:solidFill>
                <a:ea typeface="Calibri"/>
                <a:cs typeface="Calibri"/>
              </a:rPr>
              <a:t>integral</a:t>
            </a:r>
            <a:r>
              <a:rPr lang="nl-NL" b="1">
                <a:solidFill>
                  <a:schemeClr val="accent6"/>
                </a:solidFill>
                <a:ea typeface="Calibri"/>
                <a:cs typeface="Calibri"/>
              </a:rPr>
              <a:t> 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part of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the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data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exploration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phase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!</a:t>
            </a:r>
            <a:br>
              <a:rPr lang="nl-NL">
                <a:solidFill>
                  <a:schemeClr val="accent6"/>
                </a:solidFill>
                <a:ea typeface="Calibri"/>
                <a:cs typeface="Calibri"/>
              </a:rPr>
            </a:br>
            <a:endParaRPr lang="nl-NL">
              <a:solidFill>
                <a:schemeClr val="accent6"/>
              </a:solidFill>
              <a:ea typeface="Calibri"/>
              <a:cs typeface="Calibri"/>
            </a:endParaRPr>
          </a:p>
          <a:p>
            <a:pPr marL="457200" indent="-457200" algn="l">
              <a:buChar char="•"/>
            </a:pP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You'll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probably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first want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to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 look at different </a:t>
            </a:r>
            <a:r>
              <a:rPr lang="nl-NL" b="1" err="1">
                <a:solidFill>
                  <a:schemeClr val="accent6"/>
                </a:solidFill>
                <a:ea typeface="Calibri"/>
                <a:cs typeface="Calibri"/>
              </a:rPr>
              <a:t>distributions</a:t>
            </a:r>
            <a:endParaRPr lang="nl-NL" b="1">
              <a:solidFill>
                <a:schemeClr val="accent6"/>
              </a:solidFill>
              <a:ea typeface="Calibri"/>
              <a:cs typeface="Calibri"/>
            </a:endParaRP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Feature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distributions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,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Bivariate</a:t>
            </a:r>
            <a:r>
              <a:rPr lang="nl-NL">
                <a:solidFill>
                  <a:schemeClr val="accent6"/>
                </a:solidFill>
                <a:ea typeface="Calibri"/>
                <a:cs typeface="Calibri"/>
              </a:rPr>
              <a:t>/Multivariate </a:t>
            </a:r>
            <a:r>
              <a:rPr lang="nl-NL" err="1">
                <a:solidFill>
                  <a:schemeClr val="accent6"/>
                </a:solidFill>
                <a:ea typeface="Calibri"/>
                <a:cs typeface="Calibri"/>
              </a:rPr>
              <a:t>exploration</a:t>
            </a:r>
            <a:endParaRPr lang="nl-NL">
              <a:solidFill>
                <a:schemeClr val="accent6"/>
              </a:solidFill>
              <a:ea typeface="Calibri"/>
              <a:cs typeface="Calibri"/>
            </a:endParaRP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>
                <a:solidFill>
                  <a:schemeClr val="accent6"/>
                </a:solidFill>
              </a:rPr>
              <a:t>Use histograms, boxplots, scatterplots, etc.</a:t>
            </a:r>
            <a:br>
              <a:rPr lang="en-US">
                <a:solidFill>
                  <a:schemeClr val="accent6"/>
                </a:solidFill>
                <a:ea typeface="Calibri"/>
                <a:cs typeface="Calibri"/>
              </a:rPr>
            </a:b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>
                <a:solidFill>
                  <a:schemeClr val="accent6"/>
                </a:solidFill>
              </a:rPr>
              <a:t>Also check more technical details</a:t>
            </a: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>
                <a:solidFill>
                  <a:schemeClr val="accent6"/>
                </a:solidFill>
              </a:rPr>
              <a:t>Target leaking</a:t>
            </a: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>
                <a:solidFill>
                  <a:schemeClr val="accent6"/>
                </a:solidFill>
              </a:rPr>
              <a:t>image quality (resolution, brightness, cropping issues)</a:t>
            </a: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>
                <a:solidFill>
                  <a:schemeClr val="accent6"/>
                </a:solidFill>
              </a:rPr>
              <a:t>Label noise (incorrect ages, approximations)</a:t>
            </a:r>
            <a:br>
              <a:rPr lang="en-US"/>
            </a:b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marL="457200" indent="-457200" algn="l">
              <a:buChar char="•"/>
            </a:pPr>
            <a:r>
              <a:rPr lang="en-US">
                <a:solidFill>
                  <a:schemeClr val="accent6"/>
                </a:solidFill>
              </a:rPr>
              <a:t>Ask yourself </a:t>
            </a:r>
            <a:r>
              <a:rPr lang="en-US" b="1" i="1">
                <a:solidFill>
                  <a:schemeClr val="accent6"/>
                </a:solidFill>
              </a:rPr>
              <a:t>what makes this data predictive?</a:t>
            </a:r>
            <a:br>
              <a:rPr lang="en-US">
                <a:solidFill>
                  <a:schemeClr val="accent6"/>
                </a:solidFill>
              </a:rPr>
            </a:b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0555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AE257-6149-C107-27B8-5102FE994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6D8A56B-C814-FE7E-104D-F16BB27FA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701" y="2406482"/>
            <a:ext cx="8794172" cy="1470025"/>
          </a:xfrm>
        </p:spPr>
        <p:txBody>
          <a:bodyPr/>
          <a:lstStyle/>
          <a:p>
            <a:r>
              <a:rPr lang="en-US" b="1">
                <a:solidFill>
                  <a:srgbClr val="000000"/>
                </a:solidFill>
                <a:ea typeface="Calibri"/>
                <a:cs typeface="Calibri"/>
              </a:rPr>
              <a:t>Data bias when using people</a:t>
            </a:r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8F377B4-2209-D62B-5694-12EE1C1AA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247" y="3872553"/>
            <a:ext cx="14748163" cy="4384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l">
              <a:buChar char="•"/>
            </a:pPr>
            <a:r>
              <a:rPr lang="en-US">
                <a:solidFill>
                  <a:schemeClr val="accent6"/>
                </a:solidFill>
              </a:rPr>
              <a:t>Algorithms do </a:t>
            </a:r>
            <a:r>
              <a:rPr lang="en-US" b="1" i="1">
                <a:solidFill>
                  <a:schemeClr val="accent6"/>
                </a:solidFill>
              </a:rPr>
              <a:t>not </a:t>
            </a:r>
            <a:r>
              <a:rPr lang="en-US">
                <a:solidFill>
                  <a:schemeClr val="accent6"/>
                </a:solidFill>
              </a:rPr>
              <a:t>care about your data at all!</a:t>
            </a: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 i="1">
                <a:solidFill>
                  <a:schemeClr val="accent6"/>
                </a:solidFill>
              </a:rPr>
              <a:t>They just want to 'win' by solving your problem</a:t>
            </a:r>
            <a:br>
              <a:rPr lang="en-US" i="1">
                <a:solidFill>
                  <a:schemeClr val="accent6"/>
                </a:solidFill>
                <a:ea typeface="Calibri"/>
                <a:cs typeface="Calibri"/>
              </a:rPr>
            </a:br>
            <a:endParaRPr lang="en-US" i="1">
              <a:solidFill>
                <a:schemeClr val="accent6"/>
              </a:solidFill>
              <a:ea typeface="Calibri"/>
              <a:cs typeface="Calibri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>
                <a:solidFill>
                  <a:schemeClr val="accent6"/>
                </a:solidFill>
              </a:rPr>
              <a:t>Winning in this case is minimizing your chosen loss function</a:t>
            </a: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 i="1">
                <a:solidFill>
                  <a:schemeClr val="accent6"/>
                </a:solidFill>
              </a:rPr>
              <a:t>By finding any pattern that might contribute to this</a:t>
            </a:r>
            <a:br>
              <a:rPr lang="en-US" i="1">
                <a:solidFill>
                  <a:schemeClr val="accent6"/>
                </a:solidFill>
                <a:ea typeface="Calibri"/>
                <a:cs typeface="Calibri"/>
              </a:rPr>
            </a:br>
            <a:endParaRPr lang="en-US" i="1">
              <a:solidFill>
                <a:schemeClr val="accent6"/>
              </a:solidFill>
              <a:ea typeface="Calibri"/>
              <a:cs typeface="Calibri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Representation is therefore </a:t>
            </a:r>
            <a:r>
              <a:rPr lang="en-US" b="1" i="1">
                <a:solidFill>
                  <a:schemeClr val="accent6"/>
                </a:solidFill>
                <a:ea typeface="Calibri"/>
                <a:cs typeface="Calibri"/>
              </a:rPr>
              <a:t>unimaginably </a:t>
            </a: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important</a:t>
            </a:r>
          </a:p>
        </p:txBody>
      </p:sp>
    </p:spTree>
    <p:extLst>
      <p:ext uri="{BB962C8B-B14F-4D97-AF65-F5344CB8AC3E}">
        <p14:creationId xmlns:p14="http://schemas.microsoft.com/office/powerpoint/2010/main" val="3763001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1D437-9E94-414B-C1FC-35EF26298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ndertitel 4">
            <a:extLst>
              <a:ext uri="{FF2B5EF4-FFF2-40B4-BE49-F238E27FC236}">
                <a16:creationId xmlns:a16="http://schemas.microsoft.com/office/drawing/2014/main" id="{686AE007-8D21-7839-FD61-B823F58E7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672EFF1C-377B-634B-4AF6-E6CFF26FF2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8" name="Afbeelding 7" descr="Afbeelding met Menselijk gezicht, collage, vrouw, person&#10;&#10;Door AI gegenereerde inhoud is mogelijk onjuist.">
            <a:extLst>
              <a:ext uri="{FF2B5EF4-FFF2-40B4-BE49-F238E27FC236}">
                <a16:creationId xmlns:a16="http://schemas.microsoft.com/office/drawing/2014/main" id="{CC05EEEE-D315-7B23-DCCF-3CFD2460B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166" y="1334798"/>
            <a:ext cx="15009668" cy="737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82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96203-E1F9-30DC-BA99-3F33A4378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2CEF94C-61E9-930C-712B-61647C11F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2" y="2406482"/>
            <a:ext cx="8794172" cy="1470025"/>
          </a:xfrm>
        </p:spPr>
        <p:txBody>
          <a:bodyPr/>
          <a:lstStyle/>
          <a:p>
            <a:r>
              <a:rPr lang="en-US" b="1">
                <a:solidFill>
                  <a:srgbClr val="000000"/>
                </a:solidFill>
                <a:ea typeface="Calibri"/>
                <a:cs typeface="Calibri"/>
              </a:rPr>
              <a:t>Feature Engineering</a:t>
            </a:r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8800B75-E529-E1C9-CEFB-A31176003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247" y="3872553"/>
            <a:ext cx="14748163" cy="6012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l">
              <a:buChar char="•"/>
            </a:pPr>
            <a:r>
              <a:rPr lang="en-US">
                <a:solidFill>
                  <a:schemeClr val="accent6"/>
                </a:solidFill>
              </a:rPr>
              <a:t>When you know your data, you can start engineering</a:t>
            </a:r>
            <a:br>
              <a:rPr lang="en-US">
                <a:solidFill>
                  <a:schemeClr val="accent6"/>
                </a:solidFill>
                <a:ea typeface="Calibri"/>
                <a:cs typeface="Calibri"/>
              </a:rPr>
            </a:br>
            <a:endParaRPr lang="en-US">
              <a:solidFill>
                <a:schemeClr val="accent6"/>
              </a:solidFill>
            </a:endParaRPr>
          </a:p>
          <a:p>
            <a:pPr marL="457200" indent="-457200" algn="l">
              <a:buChar char="•"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Possible engineering steps:</a:t>
            </a: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Face alignment / Cropping</a:t>
            </a: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 err="1">
                <a:solidFill>
                  <a:schemeClr val="accent6"/>
                </a:solidFill>
                <a:ea typeface="Calibri"/>
                <a:cs typeface="Calibri"/>
              </a:rPr>
              <a:t>Grayscaling</a:t>
            </a: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Over- and </a:t>
            </a:r>
            <a:r>
              <a:rPr lang="en-US" err="1">
                <a:solidFill>
                  <a:schemeClr val="accent6"/>
                </a:solidFill>
                <a:ea typeface="Calibri"/>
                <a:cs typeface="Calibri"/>
              </a:rPr>
              <a:t>Undersampling</a:t>
            </a: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 of classes</a:t>
            </a: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 err="1">
                <a:solidFill>
                  <a:schemeClr val="accent6"/>
                </a:solidFill>
                <a:ea typeface="Calibri"/>
                <a:cs typeface="Calibri"/>
              </a:rPr>
              <a:t>Normalisation</a:t>
            </a: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 of the data for simpler representations</a:t>
            </a: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Regression vs Classification framing</a:t>
            </a:r>
          </a:p>
          <a:p>
            <a:pPr marL="914400" lvl="1" indent="-457200" algn="l">
              <a:buFont typeface="Courier New" pitchFamily="34" charset="0"/>
              <a:buChar char="o"/>
            </a:pP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Don't just ask yourself </a:t>
            </a:r>
            <a:r>
              <a:rPr lang="en-US" i="1">
                <a:solidFill>
                  <a:schemeClr val="accent6"/>
                </a:solidFill>
                <a:ea typeface="Calibri"/>
                <a:cs typeface="Calibri"/>
              </a:rPr>
              <a:t>what, </a:t>
            </a: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but more importantly </a:t>
            </a:r>
            <a:r>
              <a:rPr lang="en-US" b="1" i="1">
                <a:solidFill>
                  <a:schemeClr val="accent6"/>
                </a:solidFill>
                <a:ea typeface="Calibri"/>
                <a:cs typeface="Calibri"/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4144416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56514-82C9-6457-E5D6-9589DB3DA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D13C241-F520-6ACE-64E6-23A763AEB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2" y="2406482"/>
            <a:ext cx="8794172" cy="1470025"/>
          </a:xfrm>
        </p:spPr>
        <p:txBody>
          <a:bodyPr/>
          <a:lstStyle/>
          <a:p>
            <a:r>
              <a:rPr lang="en-US" b="1">
                <a:ea typeface="Calibri"/>
                <a:cs typeface="Calibri"/>
              </a:rPr>
              <a:t>Other important subjects: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FB09ED2-0DA9-1CF2-4ADD-DCB151FC0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247" y="3872553"/>
            <a:ext cx="14748163" cy="6012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l">
              <a:buChar char="•"/>
            </a:pPr>
            <a:r>
              <a:rPr lang="en-US">
                <a:solidFill>
                  <a:schemeClr val="accent6"/>
                </a:solidFill>
              </a:rPr>
              <a:t>Data leakage / test data invalidation (I can't stress you enough about this)</a:t>
            </a:r>
          </a:p>
          <a:p>
            <a:pPr marL="457200" indent="-457200" algn="l">
              <a:buChar char="•"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Data splitting strategies (random, stratified, </a:t>
            </a:r>
            <a:r>
              <a:rPr lang="en-US" err="1">
                <a:solidFill>
                  <a:schemeClr val="accent6"/>
                </a:solidFill>
                <a:ea typeface="Calibri"/>
                <a:cs typeface="Calibri"/>
              </a:rPr>
              <a:t>etc</a:t>
            </a: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)</a:t>
            </a:r>
          </a:p>
          <a:p>
            <a:pPr marL="457200" indent="-457200" algn="l">
              <a:buChar char="•"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Think already about evaluation metrics (MAE, RMSE, Fairness metrics)</a:t>
            </a:r>
          </a:p>
          <a:p>
            <a:pPr marL="457200" indent="-457200" algn="l">
              <a:buChar char="•"/>
            </a:pPr>
            <a:r>
              <a:rPr lang="en-US" err="1">
                <a:solidFill>
                  <a:schemeClr val="accent6"/>
                </a:solidFill>
                <a:ea typeface="Calibri"/>
                <a:cs typeface="Calibri"/>
              </a:rPr>
              <a:t>Reproducability</a:t>
            </a: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 of your workflow</a:t>
            </a: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And the iterative nature of it (</a:t>
            </a:r>
            <a:r>
              <a:rPr lang="en-US" b="1">
                <a:solidFill>
                  <a:schemeClr val="accent6"/>
                </a:solidFill>
                <a:ea typeface="Calibri"/>
                <a:cs typeface="Calibri"/>
              </a:rPr>
              <a:t>learning outcome B4)</a:t>
            </a:r>
          </a:p>
        </p:txBody>
      </p:sp>
    </p:spTree>
    <p:extLst>
      <p:ext uri="{BB962C8B-B14F-4D97-AF65-F5344CB8AC3E}">
        <p14:creationId xmlns:p14="http://schemas.microsoft.com/office/powerpoint/2010/main" val="309835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B991F-F7F0-4966-7484-4B5B80245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B55833B-1DD2-00E8-021E-2E77E91F4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74" y="362937"/>
            <a:ext cx="8794172" cy="1470025"/>
          </a:xfrm>
        </p:spPr>
        <p:txBody>
          <a:bodyPr/>
          <a:lstStyle/>
          <a:p>
            <a:r>
              <a:rPr lang="en-US" b="1">
                <a:ea typeface="Calibri"/>
                <a:cs typeface="Calibri"/>
              </a:rPr>
              <a:t>Practicum ~ 45 min</a:t>
            </a:r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FBC36C5-7630-EFA7-7805-7140EE156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247" y="2140735"/>
            <a:ext cx="14748163" cy="8298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l">
              <a:buChar char="•"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Make groups of four students (avoid your project members). As a group, perform data analysis on the </a:t>
            </a:r>
            <a:r>
              <a:rPr lang="en-US" err="1">
                <a:solidFill>
                  <a:schemeClr val="accent6"/>
                </a:solidFill>
                <a:ea typeface="Calibri"/>
                <a:cs typeface="Calibri"/>
              </a:rPr>
              <a:t>UTKFace</a:t>
            </a: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 dataset (see notebook on DLO). </a:t>
            </a:r>
          </a:p>
          <a:p>
            <a:pPr marL="457200" indent="-457200" algn="l">
              <a:buChar char="•"/>
            </a:pP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marL="457200" indent="-457200" algn="l">
              <a:buChar char="•"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In general, answer: </a:t>
            </a:r>
            <a:r>
              <a:rPr lang="en-US" b="1">
                <a:solidFill>
                  <a:schemeClr val="accent6"/>
                </a:solidFill>
                <a:ea typeface="Calibri"/>
                <a:cs typeface="Calibri"/>
              </a:rPr>
              <a:t>what can we say about this data, and which feature engineering steps might be necessary? Use data </a:t>
            </a:r>
            <a:r>
              <a:rPr lang="en-US" b="1" err="1">
                <a:solidFill>
                  <a:schemeClr val="accent6"/>
                </a:solidFill>
                <a:ea typeface="Calibri"/>
                <a:cs typeface="Calibri"/>
              </a:rPr>
              <a:t>visualisations</a:t>
            </a:r>
            <a:r>
              <a:rPr lang="en-US" b="1">
                <a:solidFill>
                  <a:schemeClr val="accent6"/>
                </a:solidFill>
                <a:ea typeface="Calibri"/>
                <a:cs typeface="Calibri"/>
              </a:rPr>
              <a:t>!</a:t>
            </a: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marL="457200" indent="-457200" algn="l">
              <a:buChar char="•"/>
            </a:pPr>
            <a:endParaRPr lang="en-US" b="1">
              <a:solidFill>
                <a:schemeClr val="accent6"/>
              </a:solidFill>
              <a:ea typeface="Calibri"/>
              <a:cs typeface="Calibri"/>
            </a:endParaRPr>
          </a:p>
          <a:p>
            <a:pPr marL="457200" indent="-457200" algn="l">
              <a:buChar char="•"/>
            </a:pPr>
            <a:r>
              <a:rPr lang="en-US" b="1">
                <a:solidFill>
                  <a:schemeClr val="accent6"/>
                </a:solidFill>
                <a:ea typeface="Calibri"/>
                <a:cs typeface="Calibri"/>
              </a:rPr>
              <a:t>Some questions to get you started:</a:t>
            </a: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 b="1">
                <a:solidFill>
                  <a:schemeClr val="accent6"/>
                </a:solidFill>
                <a:ea typeface="Calibri"/>
                <a:cs typeface="Calibri"/>
              </a:rPr>
              <a:t>Distribution: </a:t>
            </a: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What distributions should be checked? Are they balanced or skewed?</a:t>
            </a: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 b="1">
                <a:solidFill>
                  <a:schemeClr val="accent6"/>
                </a:solidFill>
                <a:ea typeface="Calibri"/>
                <a:cs typeface="Calibri"/>
              </a:rPr>
              <a:t>Quality</a:t>
            </a: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: Any errors, anomalies, missing data, unrealistic images, </a:t>
            </a:r>
            <a:r>
              <a:rPr lang="en-US" err="1">
                <a:solidFill>
                  <a:schemeClr val="accent6"/>
                </a:solidFill>
                <a:ea typeface="Calibri"/>
                <a:cs typeface="Calibri"/>
              </a:rPr>
              <a:t>etc</a:t>
            </a: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 b="1">
                <a:solidFill>
                  <a:schemeClr val="accent6"/>
                </a:solidFill>
                <a:ea typeface="Calibri"/>
                <a:cs typeface="Calibri"/>
              </a:rPr>
              <a:t>Bias</a:t>
            </a: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: What kind of biases are present? How would you fix these?</a:t>
            </a: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 b="1">
                <a:solidFill>
                  <a:schemeClr val="accent6"/>
                </a:solidFill>
                <a:ea typeface="Calibri"/>
                <a:cs typeface="Calibri"/>
              </a:rPr>
              <a:t>Image inspection</a:t>
            </a: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: What factors might mess with prediction? Lighting, angles, cropping </a:t>
            </a:r>
            <a:r>
              <a:rPr lang="en-US" err="1">
                <a:solidFill>
                  <a:schemeClr val="accent6"/>
                </a:solidFill>
                <a:ea typeface="Calibri"/>
                <a:cs typeface="Calibri"/>
              </a:rPr>
              <a:t>etc</a:t>
            </a:r>
            <a:br>
              <a:rPr lang="en-US">
                <a:solidFill>
                  <a:schemeClr val="accent6"/>
                </a:solidFill>
                <a:ea typeface="Calibri"/>
                <a:cs typeface="Calibri"/>
              </a:rPr>
            </a:br>
            <a:endParaRPr lang="en-US">
              <a:solidFill>
                <a:schemeClr val="accent6"/>
              </a:solidFill>
              <a:ea typeface="Calibri"/>
              <a:cs typeface="Calibri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b="1">
                <a:solidFill>
                  <a:schemeClr val="accent6"/>
                </a:solidFill>
                <a:ea typeface="Calibri"/>
                <a:cs typeface="Calibri"/>
              </a:rPr>
              <a:t>In the end we recap:</a:t>
            </a:r>
          </a:p>
          <a:p>
            <a:pPr marL="914400" lvl="1" indent="-457200" algn="l">
              <a:buFont typeface="Courier New" pitchFamily="34" charset="0"/>
              <a:buChar char="o"/>
            </a:pPr>
            <a:r>
              <a:rPr lang="en-US">
                <a:solidFill>
                  <a:schemeClr val="accent6"/>
                </a:solidFill>
                <a:ea typeface="Calibri"/>
                <a:cs typeface="Calibri"/>
              </a:rPr>
              <a:t>Surprises? Concerns? Take-aways for the project?</a:t>
            </a:r>
          </a:p>
        </p:txBody>
      </p:sp>
    </p:spTree>
    <p:extLst>
      <p:ext uri="{BB962C8B-B14F-4D97-AF65-F5344CB8AC3E}">
        <p14:creationId xmlns:p14="http://schemas.microsoft.com/office/powerpoint/2010/main" val="3910395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411B7-E738-907B-E955-7D743BA2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9AC80C62-2BB9-C1E2-1E54-667BF8F0A654}"/>
              </a:ext>
            </a:extLst>
          </p:cNvPr>
          <p:cNvSpPr/>
          <p:nvPr/>
        </p:nvSpPr>
        <p:spPr>
          <a:xfrm>
            <a:off x="-2173" y="2263"/>
            <a:ext cx="18290896" cy="10282472"/>
          </a:xfrm>
          <a:prstGeom prst="rect">
            <a:avLst/>
          </a:prstGeom>
          <a:solidFill>
            <a:srgbClr val="98480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CDB8FB3F-BDD1-9390-65B8-94C065196B3C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-139751" y="305003"/>
            <a:ext cx="2036336" cy="1763467"/>
            <a:chOff x="0" y="0"/>
            <a:chExt cx="6350000" cy="5499100"/>
          </a:xfrm>
          <a:solidFill>
            <a:srgbClr val="F08026"/>
          </a:solidFill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A34D1255-723F-78D6-B9F7-508F069B5E01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3508F5CE-8E0B-84CD-39C7-02A7F11573E3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810200" y="1764038"/>
            <a:ext cx="1018168" cy="881733"/>
            <a:chOff x="0" y="0"/>
            <a:chExt cx="6350000" cy="5499100"/>
          </a:xfrm>
          <a:solidFill>
            <a:srgbClr val="F08026"/>
          </a:solidFill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98DF1CDB-8209-BA6D-D562-6E56A7A040CF}"/>
                </a:ext>
              </a:extLst>
            </p:cNvPr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0" y="5499100"/>
                  </a:moveTo>
                  <a:lnTo>
                    <a:pt x="3175000" y="0"/>
                  </a:lnTo>
                  <a:lnTo>
                    <a:pt x="6350000" y="5499100"/>
                  </a:lnTo>
                  <a:lnTo>
                    <a:pt x="0" y="54991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NL"/>
            </a:p>
          </p:txBody>
        </p:sp>
      </p:grpSp>
      <p:pic>
        <p:nvPicPr>
          <p:cNvPr id="11" name="Tijdelijke aanduiding voor afbeelding 3">
            <a:extLst>
              <a:ext uri="{FF2B5EF4-FFF2-40B4-BE49-F238E27FC236}">
                <a16:creationId xmlns:a16="http://schemas.microsoft.com/office/drawing/2014/main" id="{12E0392B-3516-4BD6-303C-534C97765C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" r="122"/>
          <a:stretch>
            <a:fillRect/>
          </a:stretch>
        </p:blipFill>
        <p:spPr>
          <a:xfrm>
            <a:off x="12117482" y="-221227"/>
            <a:ext cx="6822419" cy="1470024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617EE5EB-F86A-5050-D76F-4ADD06B06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429" y="4568397"/>
            <a:ext cx="14753770" cy="1143000"/>
          </a:xfrm>
        </p:spPr>
        <p:txBody>
          <a:bodyPr>
            <a:noAutofit/>
          </a:bodyPr>
          <a:lstStyle/>
          <a:p>
            <a:r>
              <a:rPr lang="nl-NL" sz="7200" err="1">
                <a:solidFill>
                  <a:schemeClr val="bg1"/>
                </a:solidFill>
                <a:ea typeface="Calibri"/>
                <a:cs typeface="Calibri"/>
              </a:rPr>
              <a:t>Faces</a:t>
            </a:r>
            <a:endParaRPr lang="nl-NL" sz="72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4457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3D9B-0D3C-FB9D-1E70-E0CAB830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L"/>
          </a:p>
        </p:txBody>
      </p:sp>
      <p:pic>
        <p:nvPicPr>
          <p:cNvPr id="4" name="Online Media 3" descr="Aging Time Lapse Comparison - Science of Age Gender &amp; Race">
            <a:hlinkClick r:id="" action="ppaction://media"/>
            <a:extLst>
              <a:ext uri="{FF2B5EF4-FFF2-40B4-BE49-F238E27FC236}">
                <a16:creationId xmlns:a16="http://schemas.microsoft.com/office/drawing/2014/main" id="{31168A7D-5EB9-C163-F3F2-57EEDFB3E98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321469" y="-226825"/>
            <a:ext cx="18609470" cy="1051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57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4351-A266-58D1-87C4-53F81B671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4400"/>
              <a:t>Python packages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9A0A0A8-BA0C-9219-351E-FDC5AF2AB2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203043"/>
              </p:ext>
            </p:extLst>
          </p:nvPr>
        </p:nvGraphicFramePr>
        <p:xfrm>
          <a:off x="2001538" y="5639646"/>
          <a:ext cx="15085219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420">
                  <a:extLst>
                    <a:ext uri="{9D8B030D-6E8A-4147-A177-3AD203B41FA5}">
                      <a16:colId xmlns:a16="http://schemas.microsoft.com/office/drawing/2014/main" val="4244464558"/>
                    </a:ext>
                  </a:extLst>
                </a:gridCol>
                <a:gridCol w="3058511">
                  <a:extLst>
                    <a:ext uri="{9D8B030D-6E8A-4147-A177-3AD203B41FA5}">
                      <a16:colId xmlns:a16="http://schemas.microsoft.com/office/drawing/2014/main" val="3520199236"/>
                    </a:ext>
                  </a:extLst>
                </a:gridCol>
                <a:gridCol w="5234153">
                  <a:extLst>
                    <a:ext uri="{9D8B030D-6E8A-4147-A177-3AD203B41FA5}">
                      <a16:colId xmlns:a16="http://schemas.microsoft.com/office/drawing/2014/main" val="3571186106"/>
                    </a:ext>
                  </a:extLst>
                </a:gridCol>
                <a:gridCol w="6042135">
                  <a:extLst>
                    <a:ext uri="{9D8B030D-6E8A-4147-A177-3AD203B41FA5}">
                      <a16:colId xmlns:a16="http://schemas.microsoft.com/office/drawing/2014/main" val="3237998163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r>
                        <a:rPr lang="en-NL" sz="2700"/>
                        <a:t>No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NL" sz="2700"/>
                        <a:t>Name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NL" sz="2700"/>
                        <a:t>Description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NL" sz="2700"/>
                        <a:t>Link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55843272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lang="en-NL" sz="2700"/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NL" sz="2700"/>
                        <a:t>MTCNN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GB" sz="2700"/>
                        <a:t>A</a:t>
                      </a:r>
                      <a:r>
                        <a:rPr lang="en-NL" sz="2700"/>
                        <a:t> CNN model for face detection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GB" sz="2700" dirty="0">
                          <a:hlinkClick r:id="rId2"/>
                        </a:rPr>
                        <a:t>https://pypi.org/project/mtcnn/</a:t>
                      </a:r>
                      <a:r>
                        <a:rPr lang="en-GB" sz="2700" dirty="0"/>
                        <a:t> </a:t>
                      </a:r>
                      <a:endParaRPr lang="en-NL" sz="270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4134876988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lang="en-NL" sz="2700"/>
                        <a:t>2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NL" sz="2700"/>
                        <a:t>Deepface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nl-NL" sz="2700" dirty="0"/>
                        <a:t>A CNN model </a:t>
                      </a:r>
                      <a:r>
                        <a:rPr lang="nl-NL" sz="2700" dirty="0" err="1"/>
                        <a:t>for</a:t>
                      </a:r>
                      <a:r>
                        <a:rPr lang="nl-NL" sz="2700" dirty="0"/>
                        <a:t> </a:t>
                      </a:r>
                      <a:r>
                        <a:rPr lang="nl-NL" sz="2700" dirty="0" err="1"/>
                        <a:t>age</a:t>
                      </a:r>
                      <a:r>
                        <a:rPr lang="nl-NL" sz="2700" dirty="0"/>
                        <a:t> </a:t>
                      </a:r>
                      <a:r>
                        <a:rPr lang="nl-NL" sz="2700" dirty="0" err="1"/>
                        <a:t>estimation</a:t>
                      </a:r>
                      <a:endParaRPr lang="en-NL" sz="27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GB" sz="2700" i="0" u="sng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https://pypi.org/project/deepface/</a:t>
                      </a:r>
                      <a:endParaRPr lang="en-NL" sz="270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49403796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lang="en-NL" sz="2700"/>
                        <a:t>3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GB" sz="2700"/>
                        <a:t>F</a:t>
                      </a:r>
                      <a:r>
                        <a:rPr lang="en-NL" sz="2700"/>
                        <a:t>ace-recognition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NL" sz="27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GB" sz="2700" dirty="0"/>
                        <a:t>https://</a:t>
                      </a:r>
                      <a:r>
                        <a:rPr lang="en-GB" sz="2700" dirty="0" err="1"/>
                        <a:t>pypi.org</a:t>
                      </a:r>
                      <a:r>
                        <a:rPr lang="en-GB" sz="2700" dirty="0"/>
                        <a:t>/project/face-recognition/</a:t>
                      </a:r>
                      <a:endParaRPr lang="en-NL" sz="2700"/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4859955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DADBFE6-1898-B613-44EA-681591E446AB}"/>
              </a:ext>
            </a:extLst>
          </p:cNvPr>
          <p:cNvSpPr txBox="1"/>
          <p:nvPr/>
        </p:nvSpPr>
        <p:spPr>
          <a:xfrm>
            <a:off x="2133600" y="3217333"/>
            <a:ext cx="1127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 Python it is relatively easy to create a package / library.</a:t>
            </a:r>
          </a:p>
          <a:p>
            <a:endParaRPr lang="en-US" sz="3600" dirty="0"/>
          </a:p>
          <a:p>
            <a:r>
              <a:rPr lang="en-US" sz="3600" dirty="0"/>
              <a:t>Below three examples for faces.</a:t>
            </a:r>
          </a:p>
        </p:txBody>
      </p:sp>
    </p:spTree>
    <p:extLst>
      <p:ext uri="{BB962C8B-B14F-4D97-AF65-F5344CB8AC3E}">
        <p14:creationId xmlns:p14="http://schemas.microsoft.com/office/powerpoint/2010/main" val="4263482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6FE8-3C6A-F9E5-5BBE-F0BA8C75E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sz="4800" err="1"/>
              <a:t>Exercise</a:t>
            </a:r>
            <a:r>
              <a:rPr lang="en-NL" sz="4800"/>
              <a:t> notebooks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38A3E-348C-B6E1-E34C-35C8F1B6E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>
            <a:defPPr>
              <a:defRPr lang="nl-NL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000" dirty="0" err="1">
                <a:latin typeface="Courier New"/>
                <a:cs typeface="Courier New"/>
              </a:rPr>
              <a:t>Gezichtsdetectie_with</a:t>
            </a:r>
            <a:r>
              <a:rPr lang="en-GB" sz="4000" dirty="0">
                <a:latin typeface="Courier New"/>
                <a:cs typeface="Courier New"/>
              </a:rPr>
              <a:t>_</a:t>
            </a:r>
            <a:r>
              <a:rPr lang="en-NL" sz="4000">
                <a:latin typeface="Courier New"/>
                <a:cs typeface="Courier New"/>
              </a:rPr>
              <a:t>cnn</a:t>
            </a:r>
            <a:r>
              <a:rPr lang="en-NL" sz="4000" err="1">
                <a:latin typeface="Courier New"/>
                <a:cs typeface="Courier New"/>
              </a:rPr>
              <a:t>.ipynb</a:t>
            </a:r>
            <a:endParaRPr lang="nl-NL" sz="4000" dirty="0">
              <a:latin typeface="Courier New"/>
              <a:cs typeface="Courier New"/>
            </a:endParaRPr>
          </a:p>
          <a:p>
            <a:r>
              <a:rPr lang="nl-NL" sz="4000" dirty="0" err="1">
                <a:latin typeface="Courier New"/>
                <a:cs typeface="Courier New"/>
              </a:rPr>
              <a:t>Age_estimation</a:t>
            </a:r>
            <a:r>
              <a:rPr lang="nl-NL" sz="4000" dirty="0">
                <a:latin typeface="Courier New"/>
                <a:cs typeface="Courier New"/>
              </a:rPr>
              <a:t>_</a:t>
            </a:r>
            <a:r>
              <a:rPr lang="en-NL" sz="4000">
                <a:latin typeface="Courier New"/>
                <a:cs typeface="Courier New"/>
              </a:rPr>
              <a:t>Deepface</a:t>
            </a:r>
            <a:r>
              <a:rPr lang="en-NL" sz="4000" err="1">
                <a:latin typeface="Courier New"/>
                <a:cs typeface="Courier New"/>
              </a:rPr>
              <a:t>.ipynb</a:t>
            </a:r>
            <a:endParaRPr lang="en-NL" sz="4000">
              <a:latin typeface="Courier New"/>
              <a:cs typeface="Courier New"/>
            </a:endParaRPr>
          </a:p>
          <a:p>
            <a:endParaRPr lang="en-NL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825591"/>
      </p:ext>
    </p:extLst>
  </p:cSld>
  <p:clrMapOvr>
    <a:masterClrMapping/>
  </p:clrMapOvr>
</p:sld>
</file>

<file path=ppt/theme/theme1.xml><?xml version="1.0" encoding="utf-8"?>
<a:theme xmlns:a="http://schemas.openxmlformats.org/drawingml/2006/main" name="Aangepast ontwer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a CoE AAI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a CoE AAI2" id="{5D9B9A70-0C07-451A-8523-0D8E73F67144}" vid="{33C95C8C-3FAA-423C-814B-11F3FDCBEEB8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ema CoE AA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a CoE AAI" id="{F0918C23-0422-4192-920A-A6D713C7CF0E}" vid="{D5CA1256-AE4E-429F-953F-8A36F2554D19}"/>
    </a:ext>
  </a:extLst>
</a:theme>
</file>

<file path=ppt/theme/theme5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D8B059F7DCE246A0491CCFFD5598AC" ma:contentTypeVersion="19" ma:contentTypeDescription="Een nieuw document maken." ma:contentTypeScope="" ma:versionID="c92ce32be1f211ca73c710d802c624e9">
  <xsd:schema xmlns:xsd="http://www.w3.org/2001/XMLSchema" xmlns:xs="http://www.w3.org/2001/XMLSchema" xmlns:p="http://schemas.microsoft.com/office/2006/metadata/properties" xmlns:ns2="13154f4b-2f33-414c-8955-8f00ff7c60b7" xmlns:ns3="f4e78d3a-cc61-49cd-8a14-f134b73d0dc7" targetNamespace="http://schemas.microsoft.com/office/2006/metadata/properties" ma:root="true" ma:fieldsID="3e2bbb20f71db9ec82d5848a287be084" ns2:_="" ns3:_="">
    <xsd:import namespace="13154f4b-2f33-414c-8955-8f00ff7c60b7"/>
    <xsd:import namespace="f4e78d3a-cc61-49cd-8a14-f134b73d0d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154f4b-2f33-414c-8955-8f00ff7c60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Afbeeldingtags" ma:readOnly="false" ma:fieldId="{5cf76f15-5ced-4ddc-b409-7134ff3c332f}" ma:taxonomyMulti="true" ma:sspId="32d39682-ccf7-48d8-962f-2ca2d3d56b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e78d3a-cc61-49cd-8a14-f134b73d0dc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38a6f4d-8173-4e5f-8f4d-deac162e65e4}" ma:internalName="TaxCatchAll" ma:showField="CatchAllData" ma:web="f4e78d3a-cc61-49cd-8a14-f134b73d0d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4e78d3a-cc61-49cd-8a14-f134b73d0dc7">
      <UserInfo>
        <DisplayName>Geert Wissink</DisplayName>
        <AccountId>66</AccountId>
        <AccountType/>
      </UserInfo>
      <UserInfo>
        <DisplayName>Jesse Weltevreden</DisplayName>
        <AccountId>16</AccountId>
        <AccountType/>
      </UserInfo>
      <UserInfo>
        <DisplayName>Jesse Aarden</DisplayName>
        <AccountId>41</AccountId>
        <AccountType/>
      </UserInfo>
      <UserInfo>
        <DisplayName>Pascal Wiggers</DisplayName>
        <AccountId>17</AccountId>
        <AccountType/>
      </UserInfo>
      <UserInfo>
        <DisplayName>Bert Bredeweg</DisplayName>
        <AccountId>23</AccountId>
        <AccountType/>
      </UserInfo>
      <UserInfo>
        <DisplayName>Jurjen Helmus</DisplayName>
        <AccountId>12</AccountId>
        <AccountType/>
      </UserInfo>
      <UserInfo>
        <DisplayName>Ivar Timmer</DisplayName>
        <AccountId>19</AccountId>
        <AccountType/>
      </UserInfo>
      <UserInfo>
        <DisplayName>Kees van Montfort</DisplayName>
        <AccountId>18</AccountId>
        <AccountType/>
      </UserInfo>
      <UserInfo>
        <DisplayName>Elvira Denteneer-Wijnen</DisplayName>
        <AccountId>59</AccountId>
        <AccountType/>
      </UserInfo>
    </SharedWithUsers>
    <TaxCatchAll xmlns="f4e78d3a-cc61-49cd-8a14-f134b73d0dc7" xsi:nil="true"/>
    <lcf76f155ced4ddcb4097134ff3c332f xmlns="13154f4b-2f33-414c-8955-8f00ff7c60b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13FC9A1-0F4A-403B-889C-C2B4648B83FC}">
  <ds:schemaRefs>
    <ds:schemaRef ds:uri="13154f4b-2f33-414c-8955-8f00ff7c60b7"/>
    <ds:schemaRef ds:uri="f4e78d3a-cc61-49cd-8a14-f134b73d0d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ED2F97C-EC98-40A8-A914-FDE034ADF5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F4B01B-0B9E-48F9-B499-70FC99AA13A0}">
  <ds:schemaRefs>
    <ds:schemaRef ds:uri="http://purl.org/dc/terms/"/>
    <ds:schemaRef ds:uri="http://purl.org/dc/elements/1.1/"/>
    <ds:schemaRef ds:uri="f4e78d3a-cc61-49cd-8a14-f134b73d0dc7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3154f4b-2f33-414c-8955-8f00ff7c60b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</TotalTime>
  <Words>1344</Words>
  <Application>Microsoft Macintosh PowerPoint</Application>
  <PresentationFormat>Custom</PresentationFormat>
  <Paragraphs>221</Paragraphs>
  <Slides>30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Courier New</vt:lpstr>
      <vt:lpstr>Helvetica Neue</vt:lpstr>
      <vt:lpstr>Helvetica Neue Medium</vt:lpstr>
      <vt:lpstr>Calibri Light</vt:lpstr>
      <vt:lpstr>Courier New,monospace</vt:lpstr>
      <vt:lpstr>Arial</vt:lpstr>
      <vt:lpstr>Helvetica Neue Light</vt:lpstr>
      <vt:lpstr>Calibri</vt:lpstr>
      <vt:lpstr>Aangepast ontwerp</vt:lpstr>
      <vt:lpstr>Thema CoE AAI2</vt:lpstr>
      <vt:lpstr>1_Office Theme</vt:lpstr>
      <vt:lpstr>Thema CoE AAI</vt:lpstr>
      <vt:lpstr>Master Applied Artificial Intelligence Expert Workshops – Session 1  Lecturers Michiel Bontenbal, MSc Rick van Kersbergen, MSc</vt:lpstr>
      <vt:lpstr>Agenda</vt:lpstr>
      <vt:lpstr>Introduction Tech Workshop Curriculum</vt:lpstr>
      <vt:lpstr>PowerPoint Presentation</vt:lpstr>
      <vt:lpstr>PowerPoint Presentation</vt:lpstr>
      <vt:lpstr>PowerPoint Presentation</vt:lpstr>
      <vt:lpstr>PowerPoint Presentation</vt:lpstr>
      <vt:lpstr>AI assisted Coding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Exploration and Initial Analysis</vt:lpstr>
      <vt:lpstr>Je stelt voor een AI-oplossing juridische, ethische, organisatorische, functionele en technische requirements op.</vt:lpstr>
      <vt:lpstr>The life-cycle of MLOps: CRISPML(Q)</vt:lpstr>
      <vt:lpstr>Choosing a dataset</vt:lpstr>
      <vt:lpstr>Initial Exploration and Visualisation</vt:lpstr>
      <vt:lpstr>Data bias when using people</vt:lpstr>
      <vt:lpstr>PowerPoint Presentation</vt:lpstr>
      <vt:lpstr>Feature Engineering</vt:lpstr>
      <vt:lpstr>Other important subjects:</vt:lpstr>
      <vt:lpstr>Practicum ~ 45 min</vt:lpstr>
      <vt:lpstr>Faces</vt:lpstr>
      <vt:lpstr>PowerPoint Presentation</vt:lpstr>
      <vt:lpstr>Python packages</vt:lpstr>
      <vt:lpstr>Exercise notebooks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ECAAI 2020: Strategie &amp; Plan van Aanpak</dc:title>
  <dc:creator>Irene Schipper</dc:creator>
  <cp:lastModifiedBy>Michiel Bontenbal</cp:lastModifiedBy>
  <cp:revision>9</cp:revision>
  <cp:lastPrinted>2024-09-04T05:55:04Z</cp:lastPrinted>
  <dcterms:created xsi:type="dcterms:W3CDTF">2006-08-16T00:00:00Z</dcterms:created>
  <dcterms:modified xsi:type="dcterms:W3CDTF">2025-09-04T12:33:06Z</dcterms:modified>
  <dc:identifier>DAD_PadB6BA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0x01010028D8B059F7DCE246A0491CCFFD5598AC</vt:lpwstr>
  </property>
  <property fmtid="{D5CDD505-2E9C-101B-9397-08002B2CF9AE}" pid="3" name="MediaServiceImageTags">
    <vt:lpwstr/>
  </property>
</Properties>
</file>